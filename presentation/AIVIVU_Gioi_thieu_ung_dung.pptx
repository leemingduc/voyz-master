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01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BBEC-215E-F31C-209B-5C3A6D16A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9A6A8-57C0-B253-773B-11F5A375B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3669C-1223-7B73-70E9-8F1D01E3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1DA51-EBE9-5DB4-A43E-59AA16CD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17783-B478-57E3-A311-E61716AD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8072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A748-AE42-3860-E27A-B59FC2E4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EA2E-B670-2CD3-4FAE-5DB4939CA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2861A-2C0D-FF87-9F5F-24F5E5EC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8D8F9-759F-3B41-70DB-05B80C34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4F920-50DB-3687-0532-EED50B98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588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FCDC-E147-60A4-F0AF-76257AD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5BCC3-9EFF-E7B3-2C7F-D2595AD63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2C5B6-9723-0317-EAD4-C77F51A48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C53E1-A14C-51F8-C870-2BE2BF71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9EC7-C3D5-10DF-2AEC-53A6F245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943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0BA3-159B-2573-B7E0-B8F6EF46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E45E-7A1F-C1D3-0494-FCD1039A0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6BCA4-8CE6-AC42-C2F0-70CDFFF1E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6966A-E777-666F-78D4-E431913C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8DBD9-B2CB-5028-9B26-4A423BF2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2322D-4C92-A66E-051E-AC84608D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689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9042-7D59-24DB-4718-CE602AB06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DF43B-C5CD-7335-57BD-C23CABD1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A3B53-1D0B-99C2-5EF6-1E74075AD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B5B13-637F-BB82-8AA8-034273D2F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49096-CE51-2F9C-6425-08B19205B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D6D32-0AAB-873E-E7CE-6E858C44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D44F4-B3FD-51FD-7D6D-D137A73B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44678-24E9-577D-A606-EE429B7E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225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7661-29D5-2F8F-19AB-35197ABC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641C0-E64F-D653-0DCB-1628B6DC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45B6B3-FB8A-4BB2-8A4F-97A89759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A5CB1-A6F0-63E1-C3D1-DB5CAA3F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045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71BBF-5AA1-11B5-BA9F-17190E70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1532E-C3CE-DCAA-8C5D-0B224028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E9E4D-D0F9-D7E8-C319-EAACC346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452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BCEC-D297-EC71-7A0D-FAB88F91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8B779-C634-74DA-C072-5D8BC8172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1D9DA-C6F6-CF2E-19B9-BF9DBDEB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55037-13A8-1237-02C4-6DBD59B8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DE558-660B-49BE-16D9-D7BB4113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579F8-8525-4714-06BE-8859D2D4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435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89D8-E569-D153-0441-027C850C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04241C-C204-B800-2896-211BDFD88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6E701-E3B7-825B-A50D-B5CD7CB49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A212A-26D3-5339-21D8-2FE4E98C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F3E1E-05AD-D8E3-3610-E8DDD4B0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E64F1-E63B-3096-5AC2-6BA2F214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080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033C-C559-2003-6132-7DC4A877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411C1-E7A9-CA5F-00CB-B6003D40D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B97F4-2061-6934-65E3-7D0AE281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9FA57-B4C5-6471-7F4E-C64BF05D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C62A1-B111-F6BC-83A0-296BFBA7B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459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A5F7E-1407-D3E0-BA21-1F761BF24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DE868-1D1E-074B-DD6E-DF86A7669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41B0-798D-6498-3273-F6FEF8CC6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6DA6B-A794-18EA-3E39-F8B2778F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786B-7FCD-2000-AD1F-106DDE25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80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B2F4B-757B-BF5B-D0A1-D71485E1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E912C-8D7F-0C1E-6D34-407E3533F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589CC-44E2-68A4-225E-B8BF7E98D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34EDF-75AF-48E4-AE6D-4E59CEDC37BC}" type="datetimeFigureOut">
              <a:rPr lang="vi-VN" smtClean="0"/>
              <a:t>Thứ Bảy 10/10/2026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17334-877F-1A96-13AC-84495E456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516A4-9615-B18B-FDE1-A304F7126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49834-1405-4E4E-AD04-D36B6E0D5D6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429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D88F3-31C8-04A4-BBDB-2F4BDB63FC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8430FA-E7F3-9AC7-B427-E3FE8B6283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>
              <a:alpha val="7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CACF7-C5E4-893D-21CF-85727F3A9622}"/>
              </a:ext>
            </a:extLst>
          </p:cNvPr>
          <p:cNvSpPr/>
          <p:nvPr/>
        </p:nvSpPr>
        <p:spPr>
          <a:xfrm>
            <a:off x="0" y="4445000"/>
            <a:ext cx="12192000" cy="2413000"/>
          </a:xfrm>
          <a:prstGeom prst="rect">
            <a:avLst/>
          </a:prstGeom>
          <a:solidFill>
            <a:srgbClr val="06070B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AB1AE-BB10-B42F-F424-2EE5612319A4}"/>
              </a:ext>
            </a:extLst>
          </p:cNvPr>
          <p:cNvSpPr txBox="1"/>
          <p:nvPr/>
        </p:nvSpPr>
        <p:spPr>
          <a:xfrm>
            <a:off x="889000" y="1066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00E5FF"/>
                </a:solidFill>
                <a:latin typeface="Aptos" panose="020B0004020202020204" pitchFamily="34" charset="0"/>
              </a:rPr>
              <a:t>CÔNG BỐ ỨNG DỤNG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01215-B3A2-5172-CAA8-1365B35CE1C3}"/>
              </a:ext>
            </a:extLst>
          </p:cNvPr>
          <p:cNvSpPr txBox="1"/>
          <p:nvPr/>
        </p:nvSpPr>
        <p:spPr>
          <a:xfrm>
            <a:off x="838200" y="1574800"/>
            <a:ext cx="6350000" cy="7540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4900" b="1">
                <a:solidFill>
                  <a:srgbClr val="F8FAFC"/>
                </a:solidFill>
                <a:latin typeface="Aptos Display" panose="020B0004020202020204" pitchFamily="34" charset="0"/>
              </a:rPr>
              <a:t>AIVIVU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0FAE2-0259-D762-22FB-2D56E03F1597}"/>
              </a:ext>
            </a:extLst>
          </p:cNvPr>
          <p:cNvSpPr txBox="1"/>
          <p:nvPr/>
        </p:nvSpPr>
        <p:spPr>
          <a:xfrm>
            <a:off x="889000" y="24384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400">
                <a:solidFill>
                  <a:srgbClr val="F8FAFC"/>
                </a:solidFill>
                <a:latin typeface="Aptos" panose="020B0004020202020204" pitchFamily="34" charset="0"/>
              </a:rPr>
              <a:t>AI Travel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68EB6-80E9-7AD1-CE26-0C97C31A170C}"/>
              </a:ext>
            </a:extLst>
          </p:cNvPr>
          <p:cNvSpPr txBox="1"/>
          <p:nvPr/>
        </p:nvSpPr>
        <p:spPr>
          <a:xfrm>
            <a:off x="889000" y="3200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94A3B8"/>
                </a:solidFill>
                <a:latin typeface="Aptos" panose="020B0004020202020204" pitchFamily="34" charset="0"/>
              </a:rPr>
              <a:t>Từ một ý định — đến một hành trình rõ ràng.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F6AC15-E1C3-8557-495C-64377352C171}"/>
              </a:ext>
            </a:extLst>
          </p:cNvPr>
          <p:cNvSpPr/>
          <p:nvPr/>
        </p:nvSpPr>
        <p:spPr>
          <a:xfrm>
            <a:off x="889000" y="3962400"/>
            <a:ext cx="2717800" cy="431800"/>
          </a:xfrm>
          <a:prstGeom prst="roundRect">
            <a:avLst/>
          </a:prstGeom>
          <a:solidFill>
            <a:srgbClr val="00E5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82FA6-D77C-6239-56BD-33C7B1517D5D}"/>
              </a:ext>
            </a:extLst>
          </p:cNvPr>
          <p:cNvSpPr txBox="1"/>
          <p:nvPr/>
        </p:nvSpPr>
        <p:spPr>
          <a:xfrm>
            <a:off x="1079500" y="4089400"/>
            <a:ext cx="233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 b="1">
                <a:solidFill>
                  <a:srgbClr val="F8FAFC"/>
                </a:solidFill>
                <a:latin typeface="Aptos" panose="020B0004020202020204" pitchFamily="34" charset="0"/>
              </a:rPr>
              <a:t>PLAN • EXPLORE • 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FBA5B-2AEB-6259-943F-C29D2EF0B55A}"/>
              </a:ext>
            </a:extLst>
          </p:cNvPr>
          <p:cNvSpPr txBox="1"/>
          <p:nvPr/>
        </p:nvSpPr>
        <p:spPr>
          <a:xfrm>
            <a:off x="889000" y="6159500"/>
            <a:ext cx="457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 b="1">
                <a:solidFill>
                  <a:srgbClr val="94A3B8"/>
                </a:solidFill>
                <a:latin typeface="Aptos" panose="020B0004020202020204" pitchFamily="34" charset="0"/>
              </a:rPr>
              <a:t>2026  |  TRAVEL, MADE PERSONAL</a:t>
            </a:r>
          </a:p>
        </p:txBody>
      </p:sp>
    </p:spTree>
    <p:extLst>
      <p:ext uri="{BB962C8B-B14F-4D97-AF65-F5344CB8AC3E}">
        <p14:creationId xmlns:p14="http://schemas.microsoft.com/office/powerpoint/2010/main" val="23050199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  <p:bldP spid="7" grpId="0" build="p" bldLvl="2"/>
      <p:bldP spid="8" grpId="0" build="p" bldLvl="2"/>
      <p:bldP spid="9" grpId="0" build="p" bldLvl="2"/>
      <p:bldP spid="10" grpId="0" build="p" bldLvl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42C7D8-5358-53F9-9F6A-8638B609D3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4E6656F-5BEF-13F6-88F7-6A6A6630DD17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08B6D7-A2F9-B2DA-192B-6C530A013E05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A8845D-7700-71FA-9503-731CAA293EDD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25A425-F4D4-CD5F-478C-3011B9096D72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798FC1-67B4-DA42-E2A9-2BD7AB8551E7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A20CF0-1EB2-BB58-70F3-5425CD957FDB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C261FC-FDDB-85FB-7E4D-79AF77349942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0866CD-F008-9FD6-E057-3E4AE82DC3BB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DAC92A-93DE-DF98-3E38-DBBEC2B01D6A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3AC59E-5A77-A89D-9D96-FC6DBE592E2F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WHY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968F15-DD43-C200-A8F3-BEBE1ABF5A6E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75A1496-D369-0621-277A-983B4F3B3576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C3C78-2742-C2C8-6535-ECC3136A1FE3}"/>
              </a:ext>
            </a:extLst>
          </p:cNvPr>
          <p:cNvSpPr txBox="1"/>
          <p:nvPr/>
        </p:nvSpPr>
        <p:spPr>
          <a:xfrm>
            <a:off x="685800" y="1320800"/>
            <a:ext cx="7239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400" b="1">
                <a:solidFill>
                  <a:srgbClr val="F8FAFC"/>
                </a:solidFill>
                <a:latin typeface="Aptos Display" panose="020B0004020202020204" pitchFamily="34" charset="0"/>
              </a:rPr>
              <a:t>Du lịch không nên bắt đầu</a:t>
            </a:r>
          </a:p>
          <a:p>
            <a:r>
              <a:rPr lang="vi-VN" sz="3400" b="1">
                <a:solidFill>
                  <a:srgbClr val="F8FAFC"/>
                </a:solidFill>
                <a:latin typeface="Aptos Display" panose="020B0004020202020204" pitchFamily="34" charset="0"/>
              </a:rPr>
              <a:t>với hàng chục tab.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7687B-D474-6DC5-F5B1-18FF9858C4EF}"/>
              </a:ext>
            </a:extLst>
          </p:cNvPr>
          <p:cNvSpPr txBox="1"/>
          <p:nvPr/>
        </p:nvSpPr>
        <p:spPr>
          <a:xfrm>
            <a:off x="711200" y="2921000"/>
            <a:ext cx="736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00E5FF"/>
                </a:solidFill>
                <a:latin typeface="Aptos" panose="020B0004020202020204" pitchFamily="34" charset="0"/>
              </a:rPr>
              <a:t>AIVIVU biến nhu cầu mơ hồ thành lựa chọn có căn cứ.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A44614-AD0A-64A8-849A-603BC94E5599}"/>
              </a:ext>
            </a:extLst>
          </p:cNvPr>
          <p:cNvSpPr/>
          <p:nvPr/>
        </p:nvSpPr>
        <p:spPr>
          <a:xfrm>
            <a:off x="8737600" y="1270000"/>
            <a:ext cx="2540000" cy="31750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A15318-E318-0A1E-D69C-60221B5D747A}"/>
              </a:ext>
            </a:extLst>
          </p:cNvPr>
          <p:cNvSpPr txBox="1"/>
          <p:nvPr/>
        </p:nvSpPr>
        <p:spPr>
          <a:xfrm>
            <a:off x="9118600" y="1422400"/>
            <a:ext cx="889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5200" b="1">
                <a:solidFill>
                  <a:srgbClr val="FF3366"/>
                </a:solidFill>
              </a:rPr>
              <a:t>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EB4EC1-C906-23A3-574E-275AD48E8B1D}"/>
              </a:ext>
            </a:extLst>
          </p:cNvPr>
          <p:cNvSpPr txBox="1"/>
          <p:nvPr/>
        </p:nvSpPr>
        <p:spPr>
          <a:xfrm>
            <a:off x="9093200" y="2349500"/>
            <a:ext cx="18288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  <a:latin typeface="Aptos Display" panose="020B0004020202020204" pitchFamily="34" charset="0"/>
              </a:rPr>
              <a:t>Đi đâu cho 3 ngày,</a:t>
            </a:r>
          </a:p>
          <a:p>
            <a:pPr algn="ctr"/>
            <a:r>
              <a:rPr lang="vi-VN" sz="1600" b="1">
                <a:solidFill>
                  <a:srgbClr val="F8FAFC"/>
                </a:solidFill>
                <a:latin typeface="Aptos Display" panose="020B0004020202020204" pitchFamily="34" charset="0"/>
              </a:rPr>
              <a:t>vừa chill vừa hợp túi tiền?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C7F133-D35F-E8F1-7863-A7A5778571C4}"/>
              </a:ext>
            </a:extLst>
          </p:cNvPr>
          <p:cNvSpPr txBox="1"/>
          <p:nvPr/>
        </p:nvSpPr>
        <p:spPr>
          <a:xfrm>
            <a:off x="9017000" y="3835400"/>
            <a:ext cx="2006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Một câu hỏi. Một luồng trả lời.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75640E-C6A4-33E1-3983-C220763C97F2}"/>
              </a:ext>
            </a:extLst>
          </p:cNvPr>
          <p:cNvSpPr/>
          <p:nvPr/>
        </p:nvSpPr>
        <p:spPr>
          <a:xfrm>
            <a:off x="711200" y="4318000"/>
            <a:ext cx="3175000" cy="12065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09D3DD-07E3-9FC8-424C-45695BA1A15E}"/>
              </a:ext>
            </a:extLst>
          </p:cNvPr>
          <p:cNvSpPr/>
          <p:nvPr/>
        </p:nvSpPr>
        <p:spPr>
          <a:xfrm>
            <a:off x="889000" y="4508500"/>
            <a:ext cx="431800" cy="431800"/>
          </a:xfrm>
          <a:prstGeom prst="round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32CFE-FAE6-D553-5C35-A31F70760C38}"/>
              </a:ext>
            </a:extLst>
          </p:cNvPr>
          <p:cNvSpPr txBox="1"/>
          <p:nvPr/>
        </p:nvSpPr>
        <p:spPr>
          <a:xfrm>
            <a:off x="889000" y="4559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AD9F7F-FC73-6D0F-4516-385EDB1329E5}"/>
              </a:ext>
            </a:extLst>
          </p:cNvPr>
          <p:cNvSpPr txBox="1"/>
          <p:nvPr/>
        </p:nvSpPr>
        <p:spPr>
          <a:xfrm>
            <a:off x="1473200" y="44958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Tối giản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EB5518-3B61-4334-A04B-98839F1D9F9D}"/>
              </a:ext>
            </a:extLst>
          </p:cNvPr>
          <p:cNvSpPr txBox="1"/>
          <p:nvPr/>
        </p:nvSpPr>
        <p:spPr>
          <a:xfrm>
            <a:off x="1473200" y="4826000"/>
            <a:ext cx="2209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Một nơi cho toàn bộ hành trình.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E69937-2F54-A12E-5891-31D3E3A3173A}"/>
              </a:ext>
            </a:extLst>
          </p:cNvPr>
          <p:cNvSpPr/>
          <p:nvPr/>
        </p:nvSpPr>
        <p:spPr>
          <a:xfrm>
            <a:off x="4191000" y="4318000"/>
            <a:ext cx="3175000" cy="12065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377F045-3B6C-BB46-4D3E-1AFF98E945DD}"/>
              </a:ext>
            </a:extLst>
          </p:cNvPr>
          <p:cNvSpPr/>
          <p:nvPr/>
        </p:nvSpPr>
        <p:spPr>
          <a:xfrm>
            <a:off x="4368800" y="4508500"/>
            <a:ext cx="431800" cy="4318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77964F-8E16-10E4-32DD-A9BC4108D804}"/>
              </a:ext>
            </a:extLst>
          </p:cNvPr>
          <p:cNvSpPr txBox="1"/>
          <p:nvPr/>
        </p:nvSpPr>
        <p:spPr>
          <a:xfrm>
            <a:off x="4368800" y="4559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CA8F7-89B2-FFF5-2DB9-D307FAAA1389}"/>
              </a:ext>
            </a:extLst>
          </p:cNvPr>
          <p:cNvSpPr txBox="1"/>
          <p:nvPr/>
        </p:nvSpPr>
        <p:spPr>
          <a:xfrm>
            <a:off x="4953000" y="44958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Cá nhân hóa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FCF74B-8CA5-88E4-1EB1-DCAAFB68C1B2}"/>
              </a:ext>
            </a:extLst>
          </p:cNvPr>
          <p:cNvSpPr txBox="1"/>
          <p:nvPr/>
        </p:nvSpPr>
        <p:spPr>
          <a:xfrm>
            <a:off x="4953000" y="4826000"/>
            <a:ext cx="2209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Theo thời gian, ngân sách, sở thích.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B4963F3-13E5-1C75-7642-21AA54ADB221}"/>
              </a:ext>
            </a:extLst>
          </p:cNvPr>
          <p:cNvSpPr/>
          <p:nvPr/>
        </p:nvSpPr>
        <p:spPr>
          <a:xfrm>
            <a:off x="7670800" y="4318000"/>
            <a:ext cx="3175000" cy="12065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AEA257D-E4B8-96CE-1DDB-372128C07B7E}"/>
              </a:ext>
            </a:extLst>
          </p:cNvPr>
          <p:cNvSpPr/>
          <p:nvPr/>
        </p:nvSpPr>
        <p:spPr>
          <a:xfrm>
            <a:off x="7848600" y="4508500"/>
            <a:ext cx="431800" cy="431800"/>
          </a:xfrm>
          <a:prstGeom prst="roundRect">
            <a:avLst/>
          </a:prstGeom>
          <a:solidFill>
            <a:srgbClr val="FF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5220D5-B278-09F5-3939-D3FA6883471D}"/>
              </a:ext>
            </a:extLst>
          </p:cNvPr>
          <p:cNvSpPr txBox="1"/>
          <p:nvPr/>
        </p:nvSpPr>
        <p:spPr>
          <a:xfrm>
            <a:off x="7848600" y="4559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EDF8AF-21C6-FE45-E818-5B2E36D0F96B}"/>
              </a:ext>
            </a:extLst>
          </p:cNvPr>
          <p:cNvSpPr txBox="1"/>
          <p:nvPr/>
        </p:nvSpPr>
        <p:spPr>
          <a:xfrm>
            <a:off x="8432800" y="4495800"/>
            <a:ext cx="223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Có thể hành động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FF67F8-E73F-DB79-37F6-3AF5271D302B}"/>
              </a:ext>
            </a:extLst>
          </p:cNvPr>
          <p:cNvSpPr txBox="1"/>
          <p:nvPr/>
        </p:nvSpPr>
        <p:spPr>
          <a:xfrm>
            <a:off x="8432800" y="4826000"/>
            <a:ext cx="2209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Từ gợi ý đến lịch trình đã lưu.</a:t>
            </a:r>
          </a:p>
        </p:txBody>
      </p:sp>
    </p:spTree>
    <p:extLst>
      <p:ext uri="{BB962C8B-B14F-4D97-AF65-F5344CB8AC3E}">
        <p14:creationId xmlns:p14="http://schemas.microsoft.com/office/powerpoint/2010/main" val="15572400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  <p:bldP spid="16" grpId="0" build="p" bldLvl="2"/>
      <p:bldP spid="17" grpId="0" build="p" bldLvl="2" animBg="1"/>
      <p:bldP spid="21" grpId="0" build="p" bldLvl="2" animBg="1"/>
      <p:bldP spid="26" grpId="0" build="p" bldLvl="2" animBg="1"/>
      <p:bldP spid="31" grpId="0" build="p" bldLvl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AC39EF-CFBB-120D-9511-0E4A438DFE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29C2C4-AB31-1D2D-982A-C1A1542A0AFE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AD6CC4-801C-5BD4-0EF6-C719E4B47271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A60202-DFB8-88D9-88EE-5A70616303CA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BB778F-C56C-01F0-08C2-6CB90BB7A616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23F4A0-2B6B-4872-F421-FCB77C5AC168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A59299-526F-6F55-29E1-E7216D8D827D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1F8805-0577-940E-56D8-855BC093D3F4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FB1DB4-DA76-624D-7B9C-22F328F2B566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60D47F-8B65-FCCA-1AC4-EEBA2EACF133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09733D-BF2E-FA0D-F660-F39FB7FAE0CB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FLOW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1F3150-AA33-6012-951D-A23C5D83FDB4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3B3133-FAD4-6FB8-14F2-F5A4D8D27CB0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B799A-1E1F-7F5D-E8B1-9AB954F1F9E0}"/>
              </a:ext>
            </a:extLst>
          </p:cNvPr>
          <p:cNvSpPr txBox="1"/>
          <p:nvPr/>
        </p:nvSpPr>
        <p:spPr>
          <a:xfrm>
            <a:off x="685800" y="1181100"/>
            <a:ext cx="711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>
                <a:solidFill>
                  <a:srgbClr val="F8FAFC"/>
                </a:solidFill>
                <a:latin typeface="Aptos Display" panose="020B0004020202020204" pitchFamily="34" charset="0"/>
              </a:rPr>
              <a:t>Một cuộc trò chuyện.</a:t>
            </a:r>
          </a:p>
          <a:p>
            <a:r>
              <a:rPr lang="vi-VN" sz="3100" b="1">
                <a:solidFill>
                  <a:srgbClr val="F8FAFC"/>
                </a:solidFill>
                <a:latin typeface="Aptos Display" panose="020B0004020202020204" pitchFamily="34" charset="0"/>
              </a:rPr>
              <a:t>Một chuyến đi hoàn chỉnh.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06930-AE96-E7C2-4D5A-12E95DEDD8B8}"/>
              </a:ext>
            </a:extLst>
          </p:cNvPr>
          <p:cNvSpPr txBox="1"/>
          <p:nvPr/>
        </p:nvSpPr>
        <p:spPr>
          <a:xfrm>
            <a:off x="711200" y="2387600"/>
            <a:ext cx="825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Luồng cốt lõi: mô tả → gợi ý → khám phá → lập kế hoạch → lưu.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637DF5-E0E1-82C6-5D19-127F6909B0D7}"/>
              </a:ext>
            </a:extLst>
          </p:cNvPr>
          <p:cNvSpPr/>
          <p:nvPr/>
        </p:nvSpPr>
        <p:spPr>
          <a:xfrm>
            <a:off x="685800" y="3517900"/>
            <a:ext cx="1397000" cy="13970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94843B-53EF-9ECB-E29C-BF2DC70491DF}"/>
              </a:ext>
            </a:extLst>
          </p:cNvPr>
          <p:cNvSpPr txBox="1"/>
          <p:nvPr/>
        </p:nvSpPr>
        <p:spPr>
          <a:xfrm>
            <a:off x="939800" y="37465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00E5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91C5B6-9116-987D-084F-7B8DE04BFCC6}"/>
              </a:ext>
            </a:extLst>
          </p:cNvPr>
          <p:cNvSpPr txBox="1"/>
          <p:nvPr/>
        </p:nvSpPr>
        <p:spPr>
          <a:xfrm>
            <a:off x="800100" y="4152900"/>
            <a:ext cx="1168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F8FAFC"/>
                </a:solidFill>
                <a:latin typeface="Aptos Display" panose="020B0004020202020204" pitchFamily="34" charset="0"/>
              </a:rPr>
              <a:t>Mô tả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73D400-14DF-BB8C-FF8C-799A21E5CE64}"/>
              </a:ext>
            </a:extLst>
          </p:cNvPr>
          <p:cNvSpPr txBox="1"/>
          <p:nvPr/>
        </p:nvSpPr>
        <p:spPr>
          <a:xfrm>
            <a:off x="558800" y="51308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Điều bạn muốn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A87EB0-A0A6-A7D4-F08A-587F4A4DB091}"/>
              </a:ext>
            </a:extLst>
          </p:cNvPr>
          <p:cNvCxnSpPr/>
          <p:nvPr/>
        </p:nvCxnSpPr>
        <p:spPr>
          <a:xfrm>
            <a:off x="2184400" y="4216400"/>
            <a:ext cx="584200" cy="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2E29F9-150B-92F0-598C-29866C4F0258}"/>
              </a:ext>
            </a:extLst>
          </p:cNvPr>
          <p:cNvCxnSpPr/>
          <p:nvPr/>
        </p:nvCxnSpPr>
        <p:spPr>
          <a:xfrm>
            <a:off x="2654300" y="4127500"/>
            <a:ext cx="114300" cy="8890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CE0B26-D9E3-F6DF-2238-B301A5EDBF7A}"/>
              </a:ext>
            </a:extLst>
          </p:cNvPr>
          <p:cNvCxnSpPr/>
          <p:nvPr/>
        </p:nvCxnSpPr>
        <p:spPr>
          <a:xfrm flipV="1">
            <a:off x="2654300" y="4216400"/>
            <a:ext cx="114300" cy="8890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3EF59FB-269D-6218-F5E9-584D51F24A96}"/>
              </a:ext>
            </a:extLst>
          </p:cNvPr>
          <p:cNvSpPr/>
          <p:nvPr/>
        </p:nvSpPr>
        <p:spPr>
          <a:xfrm>
            <a:off x="2895600" y="3517900"/>
            <a:ext cx="1397000" cy="13970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A7B88C-9017-477F-C378-00DA55518871}"/>
              </a:ext>
            </a:extLst>
          </p:cNvPr>
          <p:cNvSpPr txBox="1"/>
          <p:nvPr/>
        </p:nvSpPr>
        <p:spPr>
          <a:xfrm>
            <a:off x="3149600" y="37465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8B5CF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174C2-7D4C-0E8A-6242-F93542FA1E39}"/>
              </a:ext>
            </a:extLst>
          </p:cNvPr>
          <p:cNvSpPr txBox="1"/>
          <p:nvPr/>
        </p:nvSpPr>
        <p:spPr>
          <a:xfrm>
            <a:off x="3009900" y="4152900"/>
            <a:ext cx="1168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F8FAFC"/>
                </a:solidFill>
                <a:latin typeface="Aptos Display" panose="020B0004020202020204" pitchFamily="34" charset="0"/>
              </a:rPr>
              <a:t>Gợi ý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415429-3824-C9FF-D1D7-07201404280C}"/>
              </a:ext>
            </a:extLst>
          </p:cNvPr>
          <p:cNvSpPr txBox="1"/>
          <p:nvPr/>
        </p:nvSpPr>
        <p:spPr>
          <a:xfrm>
            <a:off x="2768600" y="51308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Các lựa chọn AI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17893-2814-AF88-E0D9-94031B46C769}"/>
              </a:ext>
            </a:extLst>
          </p:cNvPr>
          <p:cNvCxnSpPr/>
          <p:nvPr/>
        </p:nvCxnSpPr>
        <p:spPr>
          <a:xfrm>
            <a:off x="4394200" y="4216400"/>
            <a:ext cx="58420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C9DA57-BC07-D6E5-7A51-B412B9DA82A7}"/>
              </a:ext>
            </a:extLst>
          </p:cNvPr>
          <p:cNvCxnSpPr/>
          <p:nvPr/>
        </p:nvCxnSpPr>
        <p:spPr>
          <a:xfrm>
            <a:off x="4864100" y="4127500"/>
            <a:ext cx="114300" cy="8890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D0C160-7F8F-33E8-FE07-C929CF81D45B}"/>
              </a:ext>
            </a:extLst>
          </p:cNvPr>
          <p:cNvCxnSpPr/>
          <p:nvPr/>
        </p:nvCxnSpPr>
        <p:spPr>
          <a:xfrm flipV="1">
            <a:off x="4864100" y="4216400"/>
            <a:ext cx="114300" cy="8890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174678F-2B75-9015-19E1-47CF7513D428}"/>
              </a:ext>
            </a:extLst>
          </p:cNvPr>
          <p:cNvSpPr/>
          <p:nvPr/>
        </p:nvSpPr>
        <p:spPr>
          <a:xfrm>
            <a:off x="5105400" y="3517900"/>
            <a:ext cx="1397000" cy="13970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FF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01E05A-1085-E9E3-1617-1D83BD7F5ABC}"/>
              </a:ext>
            </a:extLst>
          </p:cNvPr>
          <p:cNvSpPr txBox="1"/>
          <p:nvPr/>
        </p:nvSpPr>
        <p:spPr>
          <a:xfrm>
            <a:off x="5359400" y="37465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FF336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A1DD89-C26D-D423-2877-08C54FCD4A42}"/>
              </a:ext>
            </a:extLst>
          </p:cNvPr>
          <p:cNvSpPr txBox="1"/>
          <p:nvPr/>
        </p:nvSpPr>
        <p:spPr>
          <a:xfrm>
            <a:off x="5219700" y="4152900"/>
            <a:ext cx="1168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F8FAFC"/>
                </a:solidFill>
                <a:latin typeface="Aptos Display" panose="020B0004020202020204" pitchFamily="34" charset="0"/>
              </a:rPr>
              <a:t>Khám phá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E372DE-C7D9-4FAB-C263-0D96F4A5B354}"/>
              </a:ext>
            </a:extLst>
          </p:cNvPr>
          <p:cNvSpPr txBox="1"/>
          <p:nvPr/>
        </p:nvSpPr>
        <p:spPr>
          <a:xfrm>
            <a:off x="4978400" y="51308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Điểm đến phù hợp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04039C-8FC3-0F8F-6C54-27DF378537E6}"/>
              </a:ext>
            </a:extLst>
          </p:cNvPr>
          <p:cNvCxnSpPr/>
          <p:nvPr/>
        </p:nvCxnSpPr>
        <p:spPr>
          <a:xfrm>
            <a:off x="6604000" y="4216400"/>
            <a:ext cx="584200" cy="0"/>
          </a:xfrm>
          <a:prstGeom prst="line">
            <a:avLst/>
          </a:prstGeom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B48D1D1-C985-6325-367A-C49433465C5C}"/>
              </a:ext>
            </a:extLst>
          </p:cNvPr>
          <p:cNvCxnSpPr/>
          <p:nvPr/>
        </p:nvCxnSpPr>
        <p:spPr>
          <a:xfrm>
            <a:off x="7073900" y="4127500"/>
            <a:ext cx="114300" cy="88900"/>
          </a:xfrm>
          <a:prstGeom prst="line">
            <a:avLst/>
          </a:prstGeom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7B1C71-78DA-9F29-2D70-6895CAB5796B}"/>
              </a:ext>
            </a:extLst>
          </p:cNvPr>
          <p:cNvCxnSpPr/>
          <p:nvPr/>
        </p:nvCxnSpPr>
        <p:spPr>
          <a:xfrm flipV="1">
            <a:off x="7073900" y="4216400"/>
            <a:ext cx="114300" cy="88900"/>
          </a:xfrm>
          <a:prstGeom prst="line">
            <a:avLst/>
          </a:prstGeom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A9CB12C-5067-242F-D991-24E7A55461C1}"/>
              </a:ext>
            </a:extLst>
          </p:cNvPr>
          <p:cNvSpPr/>
          <p:nvPr/>
        </p:nvSpPr>
        <p:spPr>
          <a:xfrm>
            <a:off x="7315200" y="3517900"/>
            <a:ext cx="1397000" cy="13970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FF9E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497BAF-E035-DC9A-667A-97A5F976BA20}"/>
              </a:ext>
            </a:extLst>
          </p:cNvPr>
          <p:cNvSpPr txBox="1"/>
          <p:nvPr/>
        </p:nvSpPr>
        <p:spPr>
          <a:xfrm>
            <a:off x="7569200" y="37465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FF9E45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31120C-B616-DBD9-3771-E40ACE4EA64E}"/>
              </a:ext>
            </a:extLst>
          </p:cNvPr>
          <p:cNvSpPr txBox="1"/>
          <p:nvPr/>
        </p:nvSpPr>
        <p:spPr>
          <a:xfrm>
            <a:off x="7429500" y="4152900"/>
            <a:ext cx="1168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F8FAFC"/>
                </a:solidFill>
                <a:latin typeface="Aptos Display" panose="020B0004020202020204" pitchFamily="34" charset="0"/>
              </a:rPr>
              <a:t>Lịch trình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E9DFFD-D24C-E0CA-9B7B-5418E0129E28}"/>
              </a:ext>
            </a:extLst>
          </p:cNvPr>
          <p:cNvSpPr txBox="1"/>
          <p:nvPr/>
        </p:nvSpPr>
        <p:spPr>
          <a:xfrm>
            <a:off x="7188200" y="51308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Ngày &amp; chi phí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FC4E933-4D19-BF5B-B0B6-66801F9E85A7}"/>
              </a:ext>
            </a:extLst>
          </p:cNvPr>
          <p:cNvCxnSpPr/>
          <p:nvPr/>
        </p:nvCxnSpPr>
        <p:spPr>
          <a:xfrm>
            <a:off x="8813800" y="4216400"/>
            <a:ext cx="584200" cy="0"/>
          </a:xfrm>
          <a:prstGeom prst="line">
            <a:avLst/>
          </a:prstGeom>
          <a:ln w="25400">
            <a:solidFill>
              <a:srgbClr val="FF9E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1A79E9E-01DE-25BA-11DB-323666657AF3}"/>
              </a:ext>
            </a:extLst>
          </p:cNvPr>
          <p:cNvCxnSpPr/>
          <p:nvPr/>
        </p:nvCxnSpPr>
        <p:spPr>
          <a:xfrm>
            <a:off x="9283700" y="4127500"/>
            <a:ext cx="114300" cy="88900"/>
          </a:xfrm>
          <a:prstGeom prst="line">
            <a:avLst/>
          </a:prstGeom>
          <a:ln w="25400">
            <a:solidFill>
              <a:srgbClr val="FF9E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7434A39-38E2-A72A-27E5-A31EC0BE1DE5}"/>
              </a:ext>
            </a:extLst>
          </p:cNvPr>
          <p:cNvCxnSpPr/>
          <p:nvPr/>
        </p:nvCxnSpPr>
        <p:spPr>
          <a:xfrm flipV="1">
            <a:off x="9283700" y="4216400"/>
            <a:ext cx="114300" cy="88900"/>
          </a:xfrm>
          <a:prstGeom prst="line">
            <a:avLst/>
          </a:prstGeom>
          <a:ln w="25400">
            <a:solidFill>
              <a:srgbClr val="FF9E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E715402-D5B2-7388-F821-32D9323436D3}"/>
              </a:ext>
            </a:extLst>
          </p:cNvPr>
          <p:cNvSpPr/>
          <p:nvPr/>
        </p:nvSpPr>
        <p:spPr>
          <a:xfrm>
            <a:off x="9525000" y="3517900"/>
            <a:ext cx="1397000" cy="13970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CA1938-5225-F76D-E005-57FE4530FCF3}"/>
              </a:ext>
            </a:extLst>
          </p:cNvPr>
          <p:cNvSpPr txBox="1"/>
          <p:nvPr/>
        </p:nvSpPr>
        <p:spPr>
          <a:xfrm>
            <a:off x="9779000" y="37465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22C55E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1C50C-ADE7-C748-14D1-C10C4A1B02A2}"/>
              </a:ext>
            </a:extLst>
          </p:cNvPr>
          <p:cNvSpPr txBox="1"/>
          <p:nvPr/>
        </p:nvSpPr>
        <p:spPr>
          <a:xfrm>
            <a:off x="9639300" y="4152900"/>
            <a:ext cx="1168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F8FAFC"/>
                </a:solidFill>
                <a:latin typeface="Aptos Display" panose="020B0004020202020204" pitchFamily="34" charset="0"/>
              </a:rPr>
              <a:t>Lưu chuyến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6900F2-3453-7887-8EE1-C1F9C6CE27DF}"/>
              </a:ext>
            </a:extLst>
          </p:cNvPr>
          <p:cNvSpPr txBox="1"/>
          <p:nvPr/>
        </p:nvSpPr>
        <p:spPr>
          <a:xfrm>
            <a:off x="9398000" y="51308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>
                <a:solidFill>
                  <a:srgbClr val="94A3B8"/>
                </a:solidFill>
                <a:latin typeface="Aptos" panose="020B0004020202020204" pitchFamily="34" charset="0"/>
              </a:rPr>
              <a:t>Sẵn sàng lên đường</a:t>
            </a:r>
          </a:p>
        </p:txBody>
      </p:sp>
    </p:spTree>
    <p:extLst>
      <p:ext uri="{BB962C8B-B14F-4D97-AF65-F5344CB8AC3E}">
        <p14:creationId xmlns:p14="http://schemas.microsoft.com/office/powerpoint/2010/main" val="39382783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bldLvl="2" animBg="1"/>
      <p:bldP spid="18" grpId="0" build="p" bldLvl="2"/>
      <p:bldP spid="19" grpId="0" build="p" bldLvl="2"/>
      <p:bldP spid="24" grpId="0" build="p" bldLvl="2" animBg="1"/>
      <p:bldP spid="25" grpId="0" build="p" bldLvl="2"/>
      <p:bldP spid="26" grpId="0" build="p" bldLvl="2"/>
      <p:bldP spid="31" grpId="0" build="p" bldLvl="2" animBg="1"/>
      <p:bldP spid="32" grpId="0" build="p" bldLvl="2"/>
      <p:bldP spid="33" grpId="0" build="p" bldLvl="2"/>
      <p:bldP spid="38" grpId="0" build="p" bldLvl="2" animBg="1"/>
      <p:bldP spid="39" grpId="0" build="p" bldLvl="2"/>
      <p:bldP spid="40" grpId="0" build="p" bldLvl="2"/>
      <p:bldP spid="45" grpId="0" build="p" bldLvl="2" animBg="1"/>
      <p:bldP spid="46" grpId="0" build="p" bldLvl="2"/>
      <p:bldP spid="47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A5E85-AF66-2BA9-CAC0-AAEC91E780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F135B8-0057-C5B9-DA48-A8F55425A086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C7C981D-8CE1-2399-AE63-7135CF96269B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99C043-C66F-1487-9E3D-9480896B4F8E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89C3BC-8112-5B54-2B20-4A58E7EA397B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EDFC78-DF93-1396-AA60-28D9475B7D63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97F1C8-2E6C-C579-972E-BDC7B91B7EAD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7A83FA-A373-7FDB-5C9C-3A4BCC691ADE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ECA0BA-5DF7-B766-D925-BDEBC7A61D77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7A8CAC-0B65-51B7-E4E8-C280FAAADC91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49F84-4083-795E-AB1F-3EDDC65C89F1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SMART PLANNER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98C288-F084-12E5-5726-DCDC3BEE386D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EE0D29-1F8F-8F47-4BD1-5B4F7CBF9409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2F633-FB4D-0D11-44DF-FAF170693A14}"/>
              </a:ext>
            </a:extLst>
          </p:cNvPr>
          <p:cNvSpPr txBox="1"/>
          <p:nvPr/>
        </p:nvSpPr>
        <p:spPr>
          <a:xfrm>
            <a:off x="685800" y="1282700"/>
            <a:ext cx="4572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Bắt đầu bằng điều</a:t>
            </a:r>
          </a:p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bạn thật sự muốn.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E1743-132E-FEB3-B9AC-8C08FA7472ED}"/>
              </a:ext>
            </a:extLst>
          </p:cNvPr>
          <p:cNvSpPr txBox="1"/>
          <p:nvPr/>
        </p:nvSpPr>
        <p:spPr>
          <a:xfrm>
            <a:off x="711200" y="2552700"/>
            <a:ext cx="431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Smart Planner đặt ngữ cảnh trước khi gợi ý.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D7E127-0664-96CA-95DB-3399A5F65942}"/>
              </a:ext>
            </a:extLst>
          </p:cNvPr>
          <p:cNvSpPr/>
          <p:nvPr/>
        </p:nvSpPr>
        <p:spPr>
          <a:xfrm>
            <a:off x="685800" y="3632200"/>
            <a:ext cx="4013200" cy="8890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B377E2-4AE4-9D40-3DA0-97F512FA3783}"/>
              </a:ext>
            </a:extLst>
          </p:cNvPr>
          <p:cNvSpPr/>
          <p:nvPr/>
        </p:nvSpPr>
        <p:spPr>
          <a:xfrm>
            <a:off x="863600" y="3822700"/>
            <a:ext cx="431800" cy="431800"/>
          </a:xfrm>
          <a:prstGeom prst="round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A4827-1B22-566A-5F36-35EE699B3028}"/>
              </a:ext>
            </a:extLst>
          </p:cNvPr>
          <p:cNvSpPr txBox="1"/>
          <p:nvPr/>
        </p:nvSpPr>
        <p:spPr>
          <a:xfrm>
            <a:off x="863600" y="38735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↗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5116B1-2557-2B4C-049A-20051F4726DF}"/>
              </a:ext>
            </a:extLst>
          </p:cNvPr>
          <p:cNvSpPr txBox="1"/>
          <p:nvPr/>
        </p:nvSpPr>
        <p:spPr>
          <a:xfrm>
            <a:off x="1447800" y="3810000"/>
            <a:ext cx="307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Nhập tự nhiên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CEA4AE-266D-EF29-9B6A-F0F30D1143D5}"/>
              </a:ext>
            </a:extLst>
          </p:cNvPr>
          <p:cNvSpPr txBox="1"/>
          <p:nvPr/>
        </p:nvSpPr>
        <p:spPr>
          <a:xfrm>
            <a:off x="1447800" y="4140200"/>
            <a:ext cx="304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Ví dụ: “3 ngày ở Đà Lạt, đi cùng bạn, chi phí vừa phải.”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7992F6D-56A6-FC20-F00A-D14CF739AB2C}"/>
              </a:ext>
            </a:extLst>
          </p:cNvPr>
          <p:cNvSpPr/>
          <p:nvPr/>
        </p:nvSpPr>
        <p:spPr>
          <a:xfrm>
            <a:off x="685800" y="4749800"/>
            <a:ext cx="4013200" cy="8890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E6781D-C3DB-1F26-D28A-32527FC1419D}"/>
              </a:ext>
            </a:extLst>
          </p:cNvPr>
          <p:cNvSpPr/>
          <p:nvPr/>
        </p:nvSpPr>
        <p:spPr>
          <a:xfrm>
            <a:off x="863600" y="4940300"/>
            <a:ext cx="431800" cy="4318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8FD551-E9B1-F11B-E028-EC92AEB9D857}"/>
              </a:ext>
            </a:extLst>
          </p:cNvPr>
          <p:cNvSpPr txBox="1"/>
          <p:nvPr/>
        </p:nvSpPr>
        <p:spPr>
          <a:xfrm>
            <a:off x="863600" y="49911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4E6A45-7FEB-7C37-AB43-2D73974E0E8A}"/>
              </a:ext>
            </a:extLst>
          </p:cNvPr>
          <p:cNvSpPr txBox="1"/>
          <p:nvPr/>
        </p:nvSpPr>
        <p:spPr>
          <a:xfrm>
            <a:off x="1447800" y="4927600"/>
            <a:ext cx="307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Nhận phương án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26CBF-6F67-1CE9-9048-C14FE1E11692}"/>
              </a:ext>
            </a:extLst>
          </p:cNvPr>
          <p:cNvSpPr txBox="1"/>
          <p:nvPr/>
        </p:nvSpPr>
        <p:spPr>
          <a:xfrm>
            <a:off x="1447800" y="5257800"/>
            <a:ext cx="304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AI hỏi thêm khi thiếu dữ kiện, rồi đề xuất các lựa chọn.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89C8684-8946-C302-445B-8923C4E54C32}"/>
              </a:ext>
            </a:extLst>
          </p:cNvPr>
          <p:cNvSpPr/>
          <p:nvPr/>
        </p:nvSpPr>
        <p:spPr>
          <a:xfrm>
            <a:off x="7340600" y="939800"/>
            <a:ext cx="2921000" cy="5232400"/>
          </a:xfrm>
          <a:prstGeom prst="roundRect">
            <a:avLst/>
          </a:prstGeom>
          <a:solidFill>
            <a:srgbClr val="0102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1265C9B-DA6D-6E39-0298-6EEAB08048E5}"/>
              </a:ext>
            </a:extLst>
          </p:cNvPr>
          <p:cNvSpPr/>
          <p:nvPr/>
        </p:nvSpPr>
        <p:spPr>
          <a:xfrm>
            <a:off x="7239000" y="812800"/>
            <a:ext cx="2921000" cy="52324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AB69265-F003-4C20-7998-15531247195C}"/>
              </a:ext>
            </a:extLst>
          </p:cNvPr>
          <p:cNvSpPr/>
          <p:nvPr/>
        </p:nvSpPr>
        <p:spPr>
          <a:xfrm>
            <a:off x="7340600" y="914400"/>
            <a:ext cx="2717800" cy="5029200"/>
          </a:xfrm>
          <a:prstGeom prst="roundRect">
            <a:avLst/>
          </a:prstGeom>
          <a:solidFill>
            <a:srgbClr val="1013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100364-8F35-983A-2B17-C8FE5964100A}"/>
              </a:ext>
            </a:extLst>
          </p:cNvPr>
          <p:cNvSpPr/>
          <p:nvPr/>
        </p:nvSpPr>
        <p:spPr>
          <a:xfrm>
            <a:off x="8343900" y="939800"/>
            <a:ext cx="711200" cy="101600"/>
          </a:xfrm>
          <a:prstGeom prst="round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295256-59C9-AC38-D8FB-A2C339591D1C}"/>
              </a:ext>
            </a:extLst>
          </p:cNvPr>
          <p:cNvSpPr txBox="1"/>
          <p:nvPr/>
        </p:nvSpPr>
        <p:spPr>
          <a:xfrm>
            <a:off x="7467600" y="1092200"/>
            <a:ext cx="2463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800" b="1">
                <a:solidFill>
                  <a:srgbClr val="94A3B8"/>
                </a:solidFill>
                <a:latin typeface="Aptos" panose="020B0004020202020204" pitchFamily="34" charset="0"/>
              </a:rPr>
              <a:t>SMART PLANNER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3E26BE-3700-26C6-B44C-1C97DF77D32C}"/>
              </a:ext>
            </a:extLst>
          </p:cNvPr>
          <p:cNvSpPr txBox="1"/>
          <p:nvPr/>
        </p:nvSpPr>
        <p:spPr>
          <a:xfrm>
            <a:off x="7569200" y="1333500"/>
            <a:ext cx="226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00E5FF"/>
                </a:solidFill>
                <a:latin typeface="Aptos Display" panose="020B0004020202020204" pitchFamily="34" charset="0"/>
              </a:rPr>
              <a:t>AIVIVU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C961634-F84A-10EA-D0DF-53E1004AFD57}"/>
              </a:ext>
            </a:extLst>
          </p:cNvPr>
          <p:cNvSpPr/>
          <p:nvPr/>
        </p:nvSpPr>
        <p:spPr>
          <a:xfrm>
            <a:off x="7518400" y="1892300"/>
            <a:ext cx="2336800" cy="673100"/>
          </a:xfrm>
          <a:prstGeom prst="roundRect">
            <a:avLst/>
          </a:prstGeom>
          <a:solidFill>
            <a:srgbClr val="1A2941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1D3283-43EB-526E-14F5-7B9734AA0E2C}"/>
              </a:ext>
            </a:extLst>
          </p:cNvPr>
          <p:cNvSpPr txBox="1"/>
          <p:nvPr/>
        </p:nvSpPr>
        <p:spPr>
          <a:xfrm>
            <a:off x="7658100" y="2019300"/>
            <a:ext cx="2095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>
                <a:solidFill>
                  <a:srgbClr val="F8FAFC"/>
                </a:solidFill>
                <a:latin typeface="Aptos" panose="020B0004020202020204" pitchFamily="34" charset="0"/>
              </a:rPr>
              <a:t>3 ngày ở Đà Lạt,</a:t>
            </a:r>
          </a:p>
          <a:p>
            <a:r>
              <a:rPr lang="vi-VN" sz="1000">
                <a:solidFill>
                  <a:srgbClr val="F8FAFC"/>
                </a:solidFill>
                <a:latin typeface="Aptos" panose="020B0004020202020204" pitchFamily="34" charset="0"/>
              </a:rPr>
              <a:t>đi cùng bạn, chill &amp; vừa túi tiền.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E588A4B-C118-13A1-261C-E2C447EE0015}"/>
              </a:ext>
            </a:extLst>
          </p:cNvPr>
          <p:cNvSpPr/>
          <p:nvPr/>
        </p:nvSpPr>
        <p:spPr>
          <a:xfrm>
            <a:off x="7518400" y="2794000"/>
            <a:ext cx="2336800" cy="698500"/>
          </a:xfrm>
          <a:prstGeom prst="roundRect">
            <a:avLst/>
          </a:prstGeom>
          <a:solidFill>
            <a:srgbClr val="211B35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A2D84C-D950-0E77-802A-D7E47308AF3F}"/>
              </a:ext>
            </a:extLst>
          </p:cNvPr>
          <p:cNvSpPr txBox="1"/>
          <p:nvPr/>
        </p:nvSpPr>
        <p:spPr>
          <a:xfrm>
            <a:off x="7658100" y="2933700"/>
            <a:ext cx="2070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>
                <a:solidFill>
                  <a:srgbClr val="F8FAFC"/>
                </a:solidFill>
                <a:latin typeface="Aptos" panose="020B0004020202020204" pitchFamily="34" charset="0"/>
              </a:rPr>
              <a:t>Bạn thích săn mây, cafe</a:t>
            </a:r>
          </a:p>
          <a:p>
            <a:r>
              <a:rPr lang="vi-VN" sz="1000">
                <a:solidFill>
                  <a:srgbClr val="F8FAFC"/>
                </a:solidFill>
                <a:latin typeface="Aptos" panose="020B0004020202020204" pitchFamily="34" charset="0"/>
              </a:rPr>
              <a:t>hay trải nghiệm thiên nhiên?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C630703-8E6B-B99A-6B81-C08C9706A9F0}"/>
              </a:ext>
            </a:extLst>
          </p:cNvPr>
          <p:cNvSpPr/>
          <p:nvPr/>
        </p:nvSpPr>
        <p:spPr>
          <a:xfrm>
            <a:off x="7518400" y="3759200"/>
            <a:ext cx="1054100" cy="304800"/>
          </a:xfrm>
          <a:prstGeom prst="roundRect">
            <a:avLst/>
          </a:prstGeom>
          <a:solidFill>
            <a:srgbClr val="00E5FF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E1E6B0-9DA8-1AA1-5F45-5553083B2FC1}"/>
              </a:ext>
            </a:extLst>
          </p:cNvPr>
          <p:cNvSpPr/>
          <p:nvPr/>
        </p:nvSpPr>
        <p:spPr>
          <a:xfrm>
            <a:off x="8674100" y="3759200"/>
            <a:ext cx="1168400" cy="304800"/>
          </a:xfrm>
          <a:prstGeom prst="roundRect">
            <a:avLst/>
          </a:prstGeom>
          <a:solidFill>
            <a:srgbClr val="FF3366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9D5317-FF66-F846-0572-2CD528679902}"/>
              </a:ext>
            </a:extLst>
          </p:cNvPr>
          <p:cNvSpPr txBox="1"/>
          <p:nvPr/>
        </p:nvSpPr>
        <p:spPr>
          <a:xfrm>
            <a:off x="7607300" y="3835400"/>
            <a:ext cx="889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850" b="1">
                <a:solidFill>
                  <a:srgbClr val="00E5FF"/>
                </a:solidFill>
                <a:latin typeface="Aptos" panose="020B0004020202020204" pitchFamily="34" charset="0"/>
              </a:rPr>
              <a:t>Săn mây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A7C66C-9CBE-A1F5-57ED-041B68F11C7E}"/>
              </a:ext>
            </a:extLst>
          </p:cNvPr>
          <p:cNvSpPr txBox="1"/>
          <p:nvPr/>
        </p:nvSpPr>
        <p:spPr>
          <a:xfrm>
            <a:off x="8763000" y="38354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850" b="1">
                <a:solidFill>
                  <a:srgbClr val="FF3366"/>
                </a:solidFill>
                <a:latin typeface="Aptos" panose="020B0004020202020204" pitchFamily="34" charset="0"/>
              </a:rPr>
              <a:t>Thiên nhiên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C9FA8E1-C205-84A1-57BE-2996C51C6900}"/>
              </a:ext>
            </a:extLst>
          </p:cNvPr>
          <p:cNvSpPr/>
          <p:nvPr/>
        </p:nvSpPr>
        <p:spPr>
          <a:xfrm>
            <a:off x="7518400" y="5232400"/>
            <a:ext cx="2336800" cy="406400"/>
          </a:xfrm>
          <a:prstGeom prst="roundRect">
            <a:avLst/>
          </a:prstGeom>
          <a:solidFill>
            <a:srgbClr val="0C111C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B10DE4-4561-240C-5FA0-29BD2008523F}"/>
              </a:ext>
            </a:extLst>
          </p:cNvPr>
          <p:cNvSpPr txBox="1"/>
          <p:nvPr/>
        </p:nvSpPr>
        <p:spPr>
          <a:xfrm>
            <a:off x="7658100" y="5359400"/>
            <a:ext cx="1905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50">
                <a:solidFill>
                  <a:srgbClr val="94A3B8"/>
                </a:solidFill>
                <a:latin typeface="Aptos" panose="020B0004020202020204" pitchFamily="34" charset="0"/>
              </a:rPr>
              <a:t>Mô tả chuyến đi của bạn…</a:t>
            </a:r>
          </a:p>
        </p:txBody>
      </p:sp>
    </p:spTree>
    <p:extLst>
      <p:ext uri="{BB962C8B-B14F-4D97-AF65-F5344CB8AC3E}">
        <p14:creationId xmlns:p14="http://schemas.microsoft.com/office/powerpoint/2010/main" val="6183267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  <p:bldP spid="16" grpId="0" build="p" bldLvl="2"/>
      <p:bldP spid="17" grpId="0" build="p" bldLvl="2" animBg="1"/>
      <p:bldP spid="22" grpId="0" build="p" bldLvl="2" animBg="1"/>
      <p:bldP spid="28" grpId="0" build="p" bldLvl="2" animBg="1"/>
      <p:bldP spid="33" grpId="0" build="p" bldLvl="2" animBg="1"/>
      <p:bldP spid="35" grpId="0" build="p" bldLvl="2" animBg="1"/>
      <p:bldP spid="37" grpId="0" build="p" bldLvl="2" animBg="1"/>
      <p:bldP spid="38" grpId="0" build="p" bldLvl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956C93-98F0-9DEE-443D-4FDD50849D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8D6BBA-6A62-C07D-5150-FC30718337AC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470ABC-0151-E641-CE8D-0CA8A44EAF62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A9B09A-F82B-4199-60F1-BD7474CC2D86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CCF5A4-31D5-E116-3858-2B400FEC64EA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B66A94-5D6C-00DA-E6EB-E53950F77438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E1004E-7AFD-D26B-0875-222137F43873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69CBD1-B9D6-F322-0269-D49EE435A407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A49853-6A81-6DA2-A211-4061E671572D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F23F87-E9B0-F395-C8DF-2AAF02F80B17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E936FD-BCB8-56CF-F8B7-DD76D8C52A95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EXPLORE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FFC45A-4CDD-D797-3700-CB39E4FC8691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D5367A-DD14-39BD-4D21-F8C5E869A6A0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C4B709-AB3A-5E37-A654-DD1286F44362}"/>
              </a:ext>
            </a:extLst>
          </p:cNvPr>
          <p:cNvSpPr txBox="1"/>
          <p:nvPr/>
        </p:nvSpPr>
        <p:spPr>
          <a:xfrm>
            <a:off x="685800" y="1168400"/>
            <a:ext cx="6477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Không chỉ “đi đâu”.</a:t>
            </a:r>
          </a:p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Mà là “vì sao nên đi”.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7F308-AB92-B69E-F65E-B9F7EC6DB493}"/>
              </a:ext>
            </a:extLst>
          </p:cNvPr>
          <p:cNvSpPr txBox="1"/>
          <p:nvPr/>
        </p:nvSpPr>
        <p:spPr>
          <a:xfrm>
            <a:off x="711200" y="2413000"/>
            <a:ext cx="660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Mỗi lựa chọn được mở rộng thành thông tin đủ để ra quyết định.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F063D3-A698-B857-22EC-BEA6A3425FAB}"/>
              </a:ext>
            </a:extLst>
          </p:cNvPr>
          <p:cNvSpPr/>
          <p:nvPr/>
        </p:nvSpPr>
        <p:spPr>
          <a:xfrm>
            <a:off x="685800" y="3429000"/>
            <a:ext cx="3124200" cy="18034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C7FEBB-2A1D-9EBB-CC15-01BB95C7A6AD}"/>
              </a:ext>
            </a:extLst>
          </p:cNvPr>
          <p:cNvSpPr/>
          <p:nvPr/>
        </p:nvSpPr>
        <p:spPr>
          <a:xfrm>
            <a:off x="863600" y="3619500"/>
            <a:ext cx="431800" cy="431800"/>
          </a:xfrm>
          <a:prstGeom prst="round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16CA0-8277-BCAE-ACAC-6BB5542133DC}"/>
              </a:ext>
            </a:extLst>
          </p:cNvPr>
          <p:cNvSpPr txBox="1"/>
          <p:nvPr/>
        </p:nvSpPr>
        <p:spPr>
          <a:xfrm>
            <a:off x="8636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B628EF-7DAD-C897-451A-45CAC583A6B6}"/>
              </a:ext>
            </a:extLst>
          </p:cNvPr>
          <p:cNvSpPr txBox="1"/>
          <p:nvPr/>
        </p:nvSpPr>
        <p:spPr>
          <a:xfrm>
            <a:off x="1447800" y="3606800"/>
            <a:ext cx="218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Khám phá điểm đến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ECF95-52CD-AFD7-67D0-1580064F194B}"/>
              </a:ext>
            </a:extLst>
          </p:cNvPr>
          <p:cNvSpPr txBox="1"/>
          <p:nvPr/>
        </p:nvSpPr>
        <p:spPr>
          <a:xfrm>
            <a:off x="1447800" y="3937000"/>
            <a:ext cx="215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Gợi ý nổi bật, đánh giá, trải nghiệm phù hợp.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0944FF-48AC-E069-DEDB-D5CEA17B7CE0}"/>
              </a:ext>
            </a:extLst>
          </p:cNvPr>
          <p:cNvSpPr/>
          <p:nvPr/>
        </p:nvSpPr>
        <p:spPr>
          <a:xfrm>
            <a:off x="4216400" y="3429000"/>
            <a:ext cx="3124200" cy="18034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0C1A75-78CB-82F0-BEDA-B36C5FC9C471}"/>
              </a:ext>
            </a:extLst>
          </p:cNvPr>
          <p:cNvSpPr/>
          <p:nvPr/>
        </p:nvSpPr>
        <p:spPr>
          <a:xfrm>
            <a:off x="4394200" y="3619500"/>
            <a:ext cx="431800" cy="4318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87E564-53CB-EDA3-A1B1-C149E1BE6643}"/>
              </a:ext>
            </a:extLst>
          </p:cNvPr>
          <p:cNvSpPr txBox="1"/>
          <p:nvPr/>
        </p:nvSpPr>
        <p:spPr>
          <a:xfrm>
            <a:off x="43942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85BD68-0DF9-5186-6247-F256E7D850EF}"/>
              </a:ext>
            </a:extLst>
          </p:cNvPr>
          <p:cNvSpPr txBox="1"/>
          <p:nvPr/>
        </p:nvSpPr>
        <p:spPr>
          <a:xfrm>
            <a:off x="4978400" y="3606800"/>
            <a:ext cx="218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So sánh điểm đến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8DC17C-1BEA-62D9-1F78-37D4738CFCD5}"/>
              </a:ext>
            </a:extLst>
          </p:cNvPr>
          <p:cNvSpPr txBox="1"/>
          <p:nvPr/>
        </p:nvSpPr>
        <p:spPr>
          <a:xfrm>
            <a:off x="4978400" y="3937000"/>
            <a:ext cx="215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Đặt 2–3 nơi cạnh nhau theo chi phí, thời tiết, hoạt động.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0C38C7-F4AD-521A-7011-2E6D14CAA694}"/>
              </a:ext>
            </a:extLst>
          </p:cNvPr>
          <p:cNvSpPr/>
          <p:nvPr/>
        </p:nvSpPr>
        <p:spPr>
          <a:xfrm>
            <a:off x="7747000" y="3429000"/>
            <a:ext cx="3124200" cy="18034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CA12A9D-7F56-6131-7309-9C77FFD7199D}"/>
              </a:ext>
            </a:extLst>
          </p:cNvPr>
          <p:cNvSpPr/>
          <p:nvPr/>
        </p:nvSpPr>
        <p:spPr>
          <a:xfrm>
            <a:off x="7924800" y="3619500"/>
            <a:ext cx="431800" cy="431800"/>
          </a:xfrm>
          <a:prstGeom prst="roundRect">
            <a:avLst/>
          </a:prstGeom>
          <a:solidFill>
            <a:srgbClr val="FF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564023-4F95-0207-E687-FB10D6B721E4}"/>
              </a:ext>
            </a:extLst>
          </p:cNvPr>
          <p:cNvSpPr txBox="1"/>
          <p:nvPr/>
        </p:nvSpPr>
        <p:spPr>
          <a:xfrm>
            <a:off x="79248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◷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57452B-FAA6-99C7-D7D7-C8082CBE77FF}"/>
              </a:ext>
            </a:extLst>
          </p:cNvPr>
          <p:cNvSpPr txBox="1"/>
          <p:nvPr/>
        </p:nvSpPr>
        <p:spPr>
          <a:xfrm>
            <a:off x="8509000" y="3606800"/>
            <a:ext cx="218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Thời điểm lý tưởng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2F67CF-B208-3FDD-ED81-CF782B1EEFF2}"/>
              </a:ext>
            </a:extLst>
          </p:cNvPr>
          <p:cNvSpPr txBox="1"/>
          <p:nvPr/>
        </p:nvSpPr>
        <p:spPr>
          <a:xfrm>
            <a:off x="8509000" y="3937000"/>
            <a:ext cx="215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Đọc mùa, nhiệt độ, lượng mưa và lời khuyên theo tháng.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89AD43-7322-2001-DEC6-4A02EA68AA28}"/>
              </a:ext>
            </a:extLst>
          </p:cNvPr>
          <p:cNvSpPr txBox="1"/>
          <p:nvPr/>
        </p:nvSpPr>
        <p:spPr>
          <a:xfrm>
            <a:off x="698500" y="56642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F8FAFC"/>
                </a:solidFill>
                <a:latin typeface="Aptos" panose="020B0004020202020204" pitchFamily="34" charset="0"/>
              </a:rPr>
              <a:t>Điều cần biết xuất hiện đúng lúc — không làm người dùng ngợp thông tin.</a:t>
            </a:r>
          </a:p>
        </p:txBody>
      </p:sp>
    </p:spTree>
    <p:extLst>
      <p:ext uri="{BB962C8B-B14F-4D97-AF65-F5344CB8AC3E}">
        <p14:creationId xmlns:p14="http://schemas.microsoft.com/office/powerpoint/2010/main" val="15762963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  <p:bldP spid="16" grpId="0" build="p" bldLvl="2"/>
      <p:bldP spid="17" grpId="0" build="p" bldLvl="2" animBg="1"/>
      <p:bldP spid="22" grpId="0" build="p" bldLvl="2" animBg="1"/>
      <p:bldP spid="27" grpId="0" build="p" bldLvl="2" animBg="1"/>
      <p:bldP spid="32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DCD52-509D-66D0-6D22-4A2EEA1AFC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61ADC8-C83D-23AC-FE44-4B689E5AF570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1EEAA8-9970-B246-7B7F-C12B426001D4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A6ADAD-EB9E-8CAC-30A0-1D65EC333202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A194BC-1637-6F3C-DAA7-2A56027AB000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F59577-1021-193B-3A43-8CA5102D8C84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011D05-12C8-1C13-0268-D4A673D6CC65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FEA6BE-3A2A-1CEE-E5D5-4442077A771C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714B87-0F2D-78DC-BDFB-02DA50B72599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C88A81-BA7C-CB8D-C08C-59E3B8D1A924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59E5E-2DD5-ACD3-EDBB-5FA992E40D05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PLAN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514B64-8875-8419-2AA1-B1DD040ADE70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324EBD-5BA5-E26B-2701-6001B077D21A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9DDD0-1281-6BF2-AA9F-CFAB80DCA11A}"/>
              </a:ext>
            </a:extLst>
          </p:cNvPr>
          <p:cNvSpPr txBox="1"/>
          <p:nvPr/>
        </p:nvSpPr>
        <p:spPr>
          <a:xfrm>
            <a:off x="685800" y="1193800"/>
            <a:ext cx="508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Biến gợi ý thành</a:t>
            </a:r>
          </a:p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kế hoạch có thể theo.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A20B22-B25A-F864-F0FC-F24AFE35E2FF}"/>
              </a:ext>
            </a:extLst>
          </p:cNvPr>
          <p:cNvSpPr txBox="1"/>
          <p:nvPr/>
        </p:nvSpPr>
        <p:spPr>
          <a:xfrm>
            <a:off x="711200" y="24638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Lịch trình, ngân sách và tiền tệ hiển thị trong cùng một trải nghiệm.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4A52EE-144C-A684-58D2-2C8E15A48DEF}"/>
              </a:ext>
            </a:extLst>
          </p:cNvPr>
          <p:cNvSpPr/>
          <p:nvPr/>
        </p:nvSpPr>
        <p:spPr>
          <a:xfrm>
            <a:off x="698500" y="3581400"/>
            <a:ext cx="2413000" cy="9271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5F8929-1A2B-4DF7-AD9C-5A8D85B1E7EB}"/>
              </a:ext>
            </a:extLst>
          </p:cNvPr>
          <p:cNvSpPr txBox="1"/>
          <p:nvPr/>
        </p:nvSpPr>
        <p:spPr>
          <a:xfrm>
            <a:off x="901700" y="3771900"/>
            <a:ext cx="40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b="1">
                <a:solidFill>
                  <a:srgbClr val="00E5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923FA7-DD72-4FC9-5AFE-B3790E706A8E}"/>
              </a:ext>
            </a:extLst>
          </p:cNvPr>
          <p:cNvSpPr txBox="1"/>
          <p:nvPr/>
        </p:nvSpPr>
        <p:spPr>
          <a:xfrm>
            <a:off x="901700" y="4076700"/>
            <a:ext cx="196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F8FAFC"/>
                </a:solidFill>
                <a:latin typeface="Aptos" panose="020B0004020202020204" pitchFamily="34" charset="0"/>
              </a:rPr>
              <a:t>Lịch trình theo ngày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0F24CA2-2F25-6401-1CD6-9D9D14AABD66}"/>
              </a:ext>
            </a:extLst>
          </p:cNvPr>
          <p:cNvSpPr/>
          <p:nvPr/>
        </p:nvSpPr>
        <p:spPr>
          <a:xfrm>
            <a:off x="698500" y="4737100"/>
            <a:ext cx="2413000" cy="9271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2E5D22-AA7B-107A-6864-91078C44383A}"/>
              </a:ext>
            </a:extLst>
          </p:cNvPr>
          <p:cNvSpPr txBox="1"/>
          <p:nvPr/>
        </p:nvSpPr>
        <p:spPr>
          <a:xfrm>
            <a:off x="901700" y="4927600"/>
            <a:ext cx="40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b="1">
                <a:solidFill>
                  <a:srgbClr val="8B5CF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5EE151-8EA2-84DA-D317-9CFDF417814E}"/>
              </a:ext>
            </a:extLst>
          </p:cNvPr>
          <p:cNvSpPr txBox="1"/>
          <p:nvPr/>
        </p:nvSpPr>
        <p:spPr>
          <a:xfrm>
            <a:off x="901700" y="5232400"/>
            <a:ext cx="196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F8FAFC"/>
                </a:solidFill>
                <a:latin typeface="Aptos" panose="020B0004020202020204" pitchFamily="34" charset="0"/>
              </a:rPr>
              <a:t>Ngân sách ước tính*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ECA0CE-9A5E-3278-AEEF-491773470E73}"/>
              </a:ext>
            </a:extLst>
          </p:cNvPr>
          <p:cNvSpPr/>
          <p:nvPr/>
        </p:nvSpPr>
        <p:spPr>
          <a:xfrm>
            <a:off x="3352800" y="4152900"/>
            <a:ext cx="2413000" cy="9271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35A82D-4326-B2C2-B6C2-C7981013173E}"/>
              </a:ext>
            </a:extLst>
          </p:cNvPr>
          <p:cNvSpPr txBox="1"/>
          <p:nvPr/>
        </p:nvSpPr>
        <p:spPr>
          <a:xfrm>
            <a:off x="3556000" y="4343400"/>
            <a:ext cx="40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b="1">
                <a:solidFill>
                  <a:srgbClr val="FF336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36076F-77C3-A116-AE26-97F83DC8F62A}"/>
              </a:ext>
            </a:extLst>
          </p:cNvPr>
          <p:cNvSpPr txBox="1"/>
          <p:nvPr/>
        </p:nvSpPr>
        <p:spPr>
          <a:xfrm>
            <a:off x="3556000" y="4648200"/>
            <a:ext cx="196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F8FAFC"/>
                </a:solidFill>
                <a:latin typeface="Aptos" panose="020B0004020202020204" pitchFamily="34" charset="0"/>
              </a:rPr>
              <a:t>Lưu để quay lại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46F3C3-4905-510E-C041-ACB2C4D4FC84}"/>
              </a:ext>
            </a:extLst>
          </p:cNvPr>
          <p:cNvSpPr/>
          <p:nvPr/>
        </p:nvSpPr>
        <p:spPr>
          <a:xfrm>
            <a:off x="7747000" y="927100"/>
            <a:ext cx="2819400" cy="5232400"/>
          </a:xfrm>
          <a:prstGeom prst="roundRect">
            <a:avLst/>
          </a:prstGeom>
          <a:solidFill>
            <a:srgbClr val="0102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388EB23-AB89-CD60-37CD-EE872EA5CC9A}"/>
              </a:ext>
            </a:extLst>
          </p:cNvPr>
          <p:cNvSpPr/>
          <p:nvPr/>
        </p:nvSpPr>
        <p:spPr>
          <a:xfrm>
            <a:off x="7645400" y="800100"/>
            <a:ext cx="2819400" cy="52324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DD6D1F6-3474-6509-4AA7-A65D95B60663}"/>
              </a:ext>
            </a:extLst>
          </p:cNvPr>
          <p:cNvSpPr/>
          <p:nvPr/>
        </p:nvSpPr>
        <p:spPr>
          <a:xfrm>
            <a:off x="7747000" y="901700"/>
            <a:ext cx="2616200" cy="5029200"/>
          </a:xfrm>
          <a:prstGeom prst="roundRect">
            <a:avLst/>
          </a:prstGeom>
          <a:solidFill>
            <a:srgbClr val="1013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ED45B2-6669-7A4D-89EE-76A700C33803}"/>
              </a:ext>
            </a:extLst>
          </p:cNvPr>
          <p:cNvSpPr/>
          <p:nvPr/>
        </p:nvSpPr>
        <p:spPr>
          <a:xfrm>
            <a:off x="8699500" y="927100"/>
            <a:ext cx="711200" cy="101600"/>
          </a:xfrm>
          <a:prstGeom prst="round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86CF02-EC82-F7BF-876B-9C8467342F4F}"/>
              </a:ext>
            </a:extLst>
          </p:cNvPr>
          <p:cNvSpPr txBox="1"/>
          <p:nvPr/>
        </p:nvSpPr>
        <p:spPr>
          <a:xfrm>
            <a:off x="7874000" y="1079500"/>
            <a:ext cx="2362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800" b="1">
                <a:solidFill>
                  <a:srgbClr val="94A3B8"/>
                </a:solidFill>
                <a:latin typeface="Aptos" panose="020B0004020202020204" pitchFamily="34" charset="0"/>
              </a:rPr>
              <a:t>TRIP PLAN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D98587-8889-614B-7E4F-6D1F8830AB59}"/>
              </a:ext>
            </a:extLst>
          </p:cNvPr>
          <p:cNvSpPr txBox="1"/>
          <p:nvPr/>
        </p:nvSpPr>
        <p:spPr>
          <a:xfrm>
            <a:off x="7874000" y="1346200"/>
            <a:ext cx="234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Đà Lạt • 3 ngày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A58460-101C-B466-4D98-34BA18F10A60}"/>
              </a:ext>
            </a:extLst>
          </p:cNvPr>
          <p:cNvSpPr txBox="1"/>
          <p:nvPr/>
        </p:nvSpPr>
        <p:spPr>
          <a:xfrm>
            <a:off x="7874000" y="1676400"/>
            <a:ext cx="2349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50" b="1">
                <a:solidFill>
                  <a:srgbClr val="00E5FF"/>
                </a:solidFill>
                <a:latin typeface="Aptos" panose="020B0004020202020204" pitchFamily="34" charset="0"/>
              </a:rPr>
              <a:t>15–17 OCT  •  2 NGƯỜI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303AF90-A5A6-0B18-0E5B-9025F7D4121A}"/>
              </a:ext>
            </a:extLst>
          </p:cNvPr>
          <p:cNvSpPr/>
          <p:nvPr/>
        </p:nvSpPr>
        <p:spPr>
          <a:xfrm>
            <a:off x="7874000" y="2044700"/>
            <a:ext cx="2336800" cy="6731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8151B-C0DF-48E4-6EA0-D4576F2DA36F}"/>
              </a:ext>
            </a:extLst>
          </p:cNvPr>
          <p:cNvSpPr txBox="1"/>
          <p:nvPr/>
        </p:nvSpPr>
        <p:spPr>
          <a:xfrm>
            <a:off x="8039100" y="21844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00" b="1">
                <a:solidFill>
                  <a:srgbClr val="00E5FF"/>
                </a:solidFill>
                <a:latin typeface="Aptos" panose="020B0004020202020204" pitchFamily="34" charset="0"/>
              </a:rPr>
              <a:t>DAY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12B398-26CF-34A3-A5AB-C4C57BA4A5D2}"/>
              </a:ext>
            </a:extLst>
          </p:cNvPr>
          <p:cNvSpPr txBox="1"/>
          <p:nvPr/>
        </p:nvSpPr>
        <p:spPr>
          <a:xfrm>
            <a:off x="8039100" y="2413000"/>
            <a:ext cx="1968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50">
                <a:solidFill>
                  <a:srgbClr val="F8FAFC"/>
                </a:solidFill>
                <a:latin typeface="Aptos" panose="020B0004020202020204" pitchFamily="34" charset="0"/>
              </a:rPr>
              <a:t>Check-in • cafe • chợ đêm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24C55FA-DB11-65ED-BBED-5275973714F9}"/>
              </a:ext>
            </a:extLst>
          </p:cNvPr>
          <p:cNvSpPr/>
          <p:nvPr/>
        </p:nvSpPr>
        <p:spPr>
          <a:xfrm>
            <a:off x="7874000" y="2895600"/>
            <a:ext cx="2336800" cy="6731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11C1B4-8FA7-01EF-7239-1208866EDEDF}"/>
              </a:ext>
            </a:extLst>
          </p:cNvPr>
          <p:cNvSpPr txBox="1"/>
          <p:nvPr/>
        </p:nvSpPr>
        <p:spPr>
          <a:xfrm>
            <a:off x="8039100" y="30353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00" b="1">
                <a:solidFill>
                  <a:srgbClr val="8B5CF6"/>
                </a:solidFill>
                <a:latin typeface="Aptos" panose="020B0004020202020204" pitchFamily="34" charset="0"/>
              </a:rPr>
              <a:t>DAY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58115C-2C91-FD97-DAAA-072240B42AD2}"/>
              </a:ext>
            </a:extLst>
          </p:cNvPr>
          <p:cNvSpPr txBox="1"/>
          <p:nvPr/>
        </p:nvSpPr>
        <p:spPr>
          <a:xfrm>
            <a:off x="8039100" y="3263900"/>
            <a:ext cx="1968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50">
                <a:solidFill>
                  <a:srgbClr val="F8FAFC"/>
                </a:solidFill>
                <a:latin typeface="Aptos" panose="020B0004020202020204" pitchFamily="34" charset="0"/>
              </a:rPr>
              <a:t>Săn mây • đồi chè • BBQ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CDDE84D-72D4-594E-6743-C415DE891D2A}"/>
              </a:ext>
            </a:extLst>
          </p:cNvPr>
          <p:cNvSpPr/>
          <p:nvPr/>
        </p:nvSpPr>
        <p:spPr>
          <a:xfrm>
            <a:off x="7874000" y="3746500"/>
            <a:ext cx="2336800" cy="6731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8CA5FB-5120-8CF1-3375-77AA8F31C1E1}"/>
              </a:ext>
            </a:extLst>
          </p:cNvPr>
          <p:cNvSpPr txBox="1"/>
          <p:nvPr/>
        </p:nvSpPr>
        <p:spPr>
          <a:xfrm>
            <a:off x="8039100" y="3886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00" b="1">
                <a:solidFill>
                  <a:srgbClr val="FF3366"/>
                </a:solidFill>
                <a:latin typeface="Aptos" panose="020B0004020202020204" pitchFamily="34" charset="0"/>
              </a:rPr>
              <a:t>DAY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9B9770-53BB-6E6D-1480-A7B9121998A5}"/>
              </a:ext>
            </a:extLst>
          </p:cNvPr>
          <p:cNvSpPr txBox="1"/>
          <p:nvPr/>
        </p:nvSpPr>
        <p:spPr>
          <a:xfrm>
            <a:off x="8039100" y="4114800"/>
            <a:ext cx="1968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50">
                <a:solidFill>
                  <a:srgbClr val="F8FAFC"/>
                </a:solidFill>
                <a:latin typeface="Aptos" panose="020B0004020202020204" pitchFamily="34" charset="0"/>
              </a:rPr>
              <a:t>Bảo tàng • mua quà • về nhà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0F78AC5-4A95-63CE-63D1-7BB92A5E8156}"/>
              </a:ext>
            </a:extLst>
          </p:cNvPr>
          <p:cNvSpPr/>
          <p:nvPr/>
        </p:nvSpPr>
        <p:spPr>
          <a:xfrm>
            <a:off x="7874000" y="4711700"/>
            <a:ext cx="2336800" cy="533400"/>
          </a:xfrm>
          <a:prstGeom prst="roundRect">
            <a:avLst/>
          </a:prstGeom>
          <a:solidFill>
            <a:srgbClr val="172035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2D43C8-043A-DF90-A283-67A3FE92BC9C}"/>
              </a:ext>
            </a:extLst>
          </p:cNvPr>
          <p:cNvSpPr txBox="1"/>
          <p:nvPr/>
        </p:nvSpPr>
        <p:spPr>
          <a:xfrm>
            <a:off x="8051800" y="4889500"/>
            <a:ext cx="195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 b="1">
                <a:solidFill>
                  <a:srgbClr val="F8FAFC"/>
                </a:solidFill>
                <a:latin typeface="Aptos" panose="020B0004020202020204" pitchFamily="34" charset="0"/>
              </a:rPr>
              <a:t>Ước tính  4.8M VND  ›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27334B-E150-BD61-9FE8-5DD5871B9123}"/>
              </a:ext>
            </a:extLst>
          </p:cNvPr>
          <p:cNvSpPr txBox="1"/>
          <p:nvPr/>
        </p:nvSpPr>
        <p:spPr>
          <a:xfrm>
            <a:off x="698500" y="5969000"/>
            <a:ext cx="558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94A3B8"/>
                </a:solidFill>
                <a:latin typeface="Aptos" panose="020B0004020202020204" pitchFamily="34" charset="0"/>
              </a:rPr>
              <a:t>*Mức chi do AI ước tính; tỷ giá hiển thị là tham khảo.</a:t>
            </a:r>
          </a:p>
        </p:txBody>
      </p:sp>
    </p:spTree>
    <p:extLst>
      <p:ext uri="{BB962C8B-B14F-4D97-AF65-F5344CB8AC3E}">
        <p14:creationId xmlns:p14="http://schemas.microsoft.com/office/powerpoint/2010/main" val="19683070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  <p:bldP spid="16" grpId="0" build="p" bldLvl="2"/>
      <p:bldP spid="17" grpId="0" build="p" bldLvl="2" animBg="1"/>
      <p:bldP spid="20" grpId="0" build="p" bldLvl="2" animBg="1"/>
      <p:bldP spid="23" grpId="0" build="p" bldLvl="2" animBg="1"/>
      <p:bldP spid="27" grpId="0" build="p" bldLvl="2" animBg="1"/>
      <p:bldP spid="32" grpId="0" build="p" bldLvl="2"/>
      <p:bldP spid="42" grpId="0" build="p" bldLvl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F5DEFE-4D5B-4673-8F6E-3DABC816B2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3908C3-3B0E-8B83-D622-761EE9E7526F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890FC0-FDFF-994D-D0B6-6BF5877C5EC7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50DF14-19CD-9483-B2F8-79062F620D44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2D26ED-5EB7-0539-0D8A-F95FA0695440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8E4F3B-55F4-7079-9B96-D22ABFD0799F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4E07FD-8D14-93EA-DDA5-D9ED19B60F73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BFD191-1F1E-6D67-99FE-5B8889C278F2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66A338-6F68-31EE-1D41-FB34DBC1BE31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62B09E-0BDF-4694-EE2E-2B088A67AC05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5D109-0EA9-AF3C-6034-1E8878D554DE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AI TOOLS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2BE957-9A63-E567-3464-630BDC9BF454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962F13-3272-E149-9020-3897E3EAD82E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3F657-CC55-315C-5AD9-FE6BE727CDD2}"/>
              </a:ext>
            </a:extLst>
          </p:cNvPr>
          <p:cNvSpPr txBox="1"/>
          <p:nvPr/>
        </p:nvSpPr>
        <p:spPr>
          <a:xfrm>
            <a:off x="685800" y="1181100"/>
            <a:ext cx="60325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Một trợ lý du lịch.</a:t>
            </a:r>
          </a:p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Ba góc nhìn thông minh.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C1D8CE-2BD6-5DA3-3007-12CCF16DC1F5}"/>
              </a:ext>
            </a:extLst>
          </p:cNvPr>
          <p:cNvSpPr txBox="1"/>
          <p:nvPr/>
        </p:nvSpPr>
        <p:spPr>
          <a:xfrm>
            <a:off x="711200" y="24257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Từ chat tự do đến so sánh và chọn đúng thời điểm đi.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0F4067-E7C6-EB93-8FF4-AD3F44AC0951}"/>
              </a:ext>
            </a:extLst>
          </p:cNvPr>
          <p:cNvSpPr/>
          <p:nvPr/>
        </p:nvSpPr>
        <p:spPr>
          <a:xfrm>
            <a:off x="7950200" y="901700"/>
            <a:ext cx="2794000" cy="5207000"/>
          </a:xfrm>
          <a:prstGeom prst="roundRect">
            <a:avLst/>
          </a:prstGeom>
          <a:solidFill>
            <a:srgbClr val="0102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9D7808-6D32-4300-8A95-660D16789E1B}"/>
              </a:ext>
            </a:extLst>
          </p:cNvPr>
          <p:cNvSpPr/>
          <p:nvPr/>
        </p:nvSpPr>
        <p:spPr>
          <a:xfrm>
            <a:off x="7848600" y="774700"/>
            <a:ext cx="2794000" cy="52070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ADFF61-E442-686A-D83E-73E4D01DE9E8}"/>
              </a:ext>
            </a:extLst>
          </p:cNvPr>
          <p:cNvSpPr/>
          <p:nvPr/>
        </p:nvSpPr>
        <p:spPr>
          <a:xfrm>
            <a:off x="7950200" y="876300"/>
            <a:ext cx="2590800" cy="5003800"/>
          </a:xfrm>
          <a:prstGeom prst="roundRect">
            <a:avLst/>
          </a:prstGeom>
          <a:solidFill>
            <a:srgbClr val="1013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EEB7E4-2063-0E2F-682F-90BDBDA4B11C}"/>
              </a:ext>
            </a:extLst>
          </p:cNvPr>
          <p:cNvSpPr/>
          <p:nvPr/>
        </p:nvSpPr>
        <p:spPr>
          <a:xfrm>
            <a:off x="8890000" y="901700"/>
            <a:ext cx="711200" cy="101600"/>
          </a:xfrm>
          <a:prstGeom prst="round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F3C10A-FBCD-7DEE-FF1E-247307AD5C32}"/>
              </a:ext>
            </a:extLst>
          </p:cNvPr>
          <p:cNvSpPr txBox="1"/>
          <p:nvPr/>
        </p:nvSpPr>
        <p:spPr>
          <a:xfrm>
            <a:off x="8077200" y="1054100"/>
            <a:ext cx="2336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800" b="1">
                <a:solidFill>
                  <a:srgbClr val="94A3B8"/>
                </a:solidFill>
                <a:latin typeface="Aptos" panose="020B0004020202020204" pitchFamily="34" charset="0"/>
              </a:rPr>
              <a:t>AI TOOLS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39C5C-0836-7618-2618-E86478B3B01F}"/>
              </a:ext>
            </a:extLst>
          </p:cNvPr>
          <p:cNvSpPr txBox="1"/>
          <p:nvPr/>
        </p:nvSpPr>
        <p:spPr>
          <a:xfrm>
            <a:off x="8140700" y="1333500"/>
            <a:ext cx="2222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b="1">
                <a:solidFill>
                  <a:srgbClr val="F8FAFC"/>
                </a:solidFill>
                <a:latin typeface="Aptos Display" panose="020B0004020202020204" pitchFamily="34" charset="0"/>
              </a:rPr>
              <a:t>Công cụ AI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589A4B-1482-0C3D-5CD8-21A05938BAA2}"/>
              </a:ext>
            </a:extLst>
          </p:cNvPr>
          <p:cNvSpPr/>
          <p:nvPr/>
        </p:nvSpPr>
        <p:spPr>
          <a:xfrm>
            <a:off x="8128000" y="1968500"/>
            <a:ext cx="2247900" cy="7747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0DF009-85B2-D329-694D-BCA5841C61E6}"/>
              </a:ext>
            </a:extLst>
          </p:cNvPr>
          <p:cNvSpPr/>
          <p:nvPr/>
        </p:nvSpPr>
        <p:spPr>
          <a:xfrm>
            <a:off x="8267700" y="2120900"/>
            <a:ext cx="444500" cy="444500"/>
          </a:xfrm>
          <a:prstGeom prst="roundRect">
            <a:avLst/>
          </a:prstGeom>
          <a:solidFill>
            <a:srgbClr val="FF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94EF1F-1D1D-32EC-D843-309D7D3FBFD9}"/>
              </a:ext>
            </a:extLst>
          </p:cNvPr>
          <p:cNvSpPr txBox="1"/>
          <p:nvPr/>
        </p:nvSpPr>
        <p:spPr>
          <a:xfrm>
            <a:off x="8267700" y="2222500"/>
            <a:ext cx="44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F8FAFC"/>
                </a:solidFill>
              </a:rPr>
              <a:t>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433C0C-040F-B775-12D0-CD8F4EF2D433}"/>
              </a:ext>
            </a:extLst>
          </p:cNvPr>
          <p:cNvSpPr txBox="1"/>
          <p:nvPr/>
        </p:nvSpPr>
        <p:spPr>
          <a:xfrm>
            <a:off x="8826500" y="2133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 b="1">
                <a:solidFill>
                  <a:srgbClr val="F8FAFC"/>
                </a:solidFill>
                <a:latin typeface="Aptos" panose="020B0004020202020204" pitchFamily="34" charset="0"/>
              </a:rPr>
              <a:t>AI Chatbot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C22F04-AA99-F002-2829-B459832CDE20}"/>
              </a:ext>
            </a:extLst>
          </p:cNvPr>
          <p:cNvSpPr txBox="1"/>
          <p:nvPr/>
        </p:nvSpPr>
        <p:spPr>
          <a:xfrm>
            <a:off x="8826500" y="2362200"/>
            <a:ext cx="1422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50">
                <a:solidFill>
                  <a:srgbClr val="94A3B8"/>
                </a:solidFill>
                <a:latin typeface="Aptos" panose="020B0004020202020204" pitchFamily="34" charset="0"/>
              </a:rPr>
              <a:t>Hỏi mọi điều về chuyến đi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E2255B0-964B-E5AA-4DF2-57DA015D950E}"/>
              </a:ext>
            </a:extLst>
          </p:cNvPr>
          <p:cNvSpPr/>
          <p:nvPr/>
        </p:nvSpPr>
        <p:spPr>
          <a:xfrm>
            <a:off x="8128000" y="2984500"/>
            <a:ext cx="2247900" cy="7747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849DA23-DFEE-6A08-7179-C96E86314E8B}"/>
              </a:ext>
            </a:extLst>
          </p:cNvPr>
          <p:cNvSpPr/>
          <p:nvPr/>
        </p:nvSpPr>
        <p:spPr>
          <a:xfrm>
            <a:off x="8267700" y="3136900"/>
            <a:ext cx="444500" cy="444500"/>
          </a:xfrm>
          <a:prstGeom prst="round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46A24F-8501-6DD7-057A-61482CBA22FC}"/>
              </a:ext>
            </a:extLst>
          </p:cNvPr>
          <p:cNvSpPr txBox="1"/>
          <p:nvPr/>
        </p:nvSpPr>
        <p:spPr>
          <a:xfrm>
            <a:off x="8267700" y="3238500"/>
            <a:ext cx="44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F8FAFC"/>
                </a:solidFill>
              </a:rPr>
              <a:t>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2655D8-84EC-CE87-93D7-B11EEF9A7E7E}"/>
              </a:ext>
            </a:extLst>
          </p:cNvPr>
          <p:cNvSpPr txBox="1"/>
          <p:nvPr/>
        </p:nvSpPr>
        <p:spPr>
          <a:xfrm>
            <a:off x="8826500" y="3149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 b="1">
                <a:solidFill>
                  <a:srgbClr val="F8FAFC"/>
                </a:solidFill>
                <a:latin typeface="Aptos" panose="020B0004020202020204" pitchFamily="34" charset="0"/>
              </a:rPr>
              <a:t>So sánh điểm đến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563966-1AC0-652F-CF80-4B660E904A9A}"/>
              </a:ext>
            </a:extLst>
          </p:cNvPr>
          <p:cNvSpPr txBox="1"/>
          <p:nvPr/>
        </p:nvSpPr>
        <p:spPr>
          <a:xfrm>
            <a:off x="8826500" y="3378200"/>
            <a:ext cx="1422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850">
                <a:solidFill>
                  <a:srgbClr val="94A3B8"/>
                </a:solidFill>
                <a:latin typeface="Aptos" panose="020B0004020202020204" pitchFamily="34" charset="0"/>
              </a:rPr>
              <a:t>So sánh 2–3 lựa chọn</a:t>
            </a:r>
            <a:endParaRPr lang="vi-VN" sz="85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475F810-4066-1590-A976-B7BD9A58FAA3}"/>
              </a:ext>
            </a:extLst>
          </p:cNvPr>
          <p:cNvSpPr/>
          <p:nvPr/>
        </p:nvSpPr>
        <p:spPr>
          <a:xfrm>
            <a:off x="8128000" y="4000500"/>
            <a:ext cx="2247900" cy="7747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81EF9F-C807-0633-DAAE-1E2DB9827D91}"/>
              </a:ext>
            </a:extLst>
          </p:cNvPr>
          <p:cNvSpPr/>
          <p:nvPr/>
        </p:nvSpPr>
        <p:spPr>
          <a:xfrm>
            <a:off x="8267700" y="4152900"/>
            <a:ext cx="444500" cy="4445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366F92-DD42-7C77-2E19-55F1AE7FBF72}"/>
              </a:ext>
            </a:extLst>
          </p:cNvPr>
          <p:cNvSpPr txBox="1"/>
          <p:nvPr/>
        </p:nvSpPr>
        <p:spPr>
          <a:xfrm>
            <a:off x="8267700" y="4254500"/>
            <a:ext cx="44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F8FAFC"/>
                </a:solidFill>
              </a:rPr>
              <a:t>◷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0299CA-BF59-A91D-E29B-810D7C953B52}"/>
              </a:ext>
            </a:extLst>
          </p:cNvPr>
          <p:cNvSpPr txBox="1"/>
          <p:nvPr/>
        </p:nvSpPr>
        <p:spPr>
          <a:xfrm>
            <a:off x="8826500" y="4165600"/>
            <a:ext cx="142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 b="1">
                <a:solidFill>
                  <a:srgbClr val="F8FAFC"/>
                </a:solidFill>
                <a:latin typeface="Aptos" panose="020B0004020202020204" pitchFamily="34" charset="0"/>
              </a:rPr>
              <a:t>Thời điểm tốt nhất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D53C4C-434A-DF62-D5E3-9D818A4185AA}"/>
              </a:ext>
            </a:extLst>
          </p:cNvPr>
          <p:cNvSpPr txBox="1"/>
          <p:nvPr/>
        </p:nvSpPr>
        <p:spPr>
          <a:xfrm>
            <a:off x="8826500" y="4394200"/>
            <a:ext cx="1422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50">
                <a:solidFill>
                  <a:srgbClr val="94A3B8"/>
                </a:solidFill>
                <a:latin typeface="Aptos" panose="020B0004020202020204" pitchFamily="34" charset="0"/>
              </a:rPr>
              <a:t>Đọc mùa và lên lịch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ABDF18B-04C2-7A86-4A63-A3A05FAF97BF}"/>
              </a:ext>
            </a:extLst>
          </p:cNvPr>
          <p:cNvSpPr/>
          <p:nvPr/>
        </p:nvSpPr>
        <p:spPr>
          <a:xfrm>
            <a:off x="685800" y="3479800"/>
            <a:ext cx="6096000" cy="7874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87006A-FC55-C331-EE9F-9A13523EA287}"/>
              </a:ext>
            </a:extLst>
          </p:cNvPr>
          <p:cNvSpPr/>
          <p:nvPr/>
        </p:nvSpPr>
        <p:spPr>
          <a:xfrm>
            <a:off x="863600" y="3670300"/>
            <a:ext cx="431800" cy="431800"/>
          </a:xfrm>
          <a:prstGeom prst="roundRect">
            <a:avLst/>
          </a:prstGeom>
          <a:solidFill>
            <a:srgbClr val="FF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AFD8AD-89CC-9B52-C06B-ED1F043D4DC5}"/>
              </a:ext>
            </a:extLst>
          </p:cNvPr>
          <p:cNvSpPr txBox="1"/>
          <p:nvPr/>
        </p:nvSpPr>
        <p:spPr>
          <a:xfrm>
            <a:off x="863600" y="37211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1FF856-6211-8F25-66D0-55DEFAC35B7B}"/>
              </a:ext>
            </a:extLst>
          </p:cNvPr>
          <p:cNvSpPr txBox="1"/>
          <p:nvPr/>
        </p:nvSpPr>
        <p:spPr>
          <a:xfrm>
            <a:off x="1447800" y="3657600"/>
            <a:ext cx="515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AI Chatbot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C4194B-32F3-F65B-D8B2-F14C36784D10}"/>
              </a:ext>
            </a:extLst>
          </p:cNvPr>
          <p:cNvSpPr txBox="1"/>
          <p:nvPr/>
        </p:nvSpPr>
        <p:spPr>
          <a:xfrm>
            <a:off x="1447800" y="3987800"/>
            <a:ext cx="5130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Câu hỏi về visa, văn hóa, chi phí, mẹo đi lại… trong giao diện trò chuyện.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4213E1C-2DD0-E7FB-B669-6C88DFA10A55}"/>
              </a:ext>
            </a:extLst>
          </p:cNvPr>
          <p:cNvSpPr/>
          <p:nvPr/>
        </p:nvSpPr>
        <p:spPr>
          <a:xfrm>
            <a:off x="685800" y="4445000"/>
            <a:ext cx="6096000" cy="7874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0470E35-1BEE-8F16-D3AF-065360BD1EB7}"/>
              </a:ext>
            </a:extLst>
          </p:cNvPr>
          <p:cNvSpPr/>
          <p:nvPr/>
        </p:nvSpPr>
        <p:spPr>
          <a:xfrm>
            <a:off x="863600" y="4635500"/>
            <a:ext cx="431800" cy="431800"/>
          </a:xfrm>
          <a:prstGeom prst="round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CCAAB3-D483-749F-D16A-B59DE3B12495}"/>
              </a:ext>
            </a:extLst>
          </p:cNvPr>
          <p:cNvSpPr txBox="1"/>
          <p:nvPr/>
        </p:nvSpPr>
        <p:spPr>
          <a:xfrm>
            <a:off x="863600" y="4686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61D476-31F0-828A-7191-3E7D61478153}"/>
              </a:ext>
            </a:extLst>
          </p:cNvPr>
          <p:cNvSpPr txBox="1"/>
          <p:nvPr/>
        </p:nvSpPr>
        <p:spPr>
          <a:xfrm>
            <a:off x="1447800" y="4622800"/>
            <a:ext cx="515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AI Compare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FF90F4-7520-A124-1B4B-0F2EED4E97F7}"/>
              </a:ext>
            </a:extLst>
          </p:cNvPr>
          <p:cNvSpPr txBox="1"/>
          <p:nvPr/>
        </p:nvSpPr>
        <p:spPr>
          <a:xfrm>
            <a:off x="1447800" y="4953000"/>
            <a:ext cx="5130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Đặt các điểm đến cạnh nhau theo 4 khía cạnh: chi phí, thời tiết, hoạt động, ẩm thực.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739D088-AC3E-D95D-B142-E6B0ECD7E768}"/>
              </a:ext>
            </a:extLst>
          </p:cNvPr>
          <p:cNvSpPr/>
          <p:nvPr/>
        </p:nvSpPr>
        <p:spPr>
          <a:xfrm>
            <a:off x="685800" y="5410200"/>
            <a:ext cx="6096000" cy="7874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8F7400A-121C-8153-39BE-A0A532B774B2}"/>
              </a:ext>
            </a:extLst>
          </p:cNvPr>
          <p:cNvSpPr/>
          <p:nvPr/>
        </p:nvSpPr>
        <p:spPr>
          <a:xfrm>
            <a:off x="863600" y="5600700"/>
            <a:ext cx="431800" cy="4318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7ADB3E-6403-CF1E-00D7-C3A30183D1A3}"/>
              </a:ext>
            </a:extLst>
          </p:cNvPr>
          <p:cNvSpPr txBox="1"/>
          <p:nvPr/>
        </p:nvSpPr>
        <p:spPr>
          <a:xfrm>
            <a:off x="863600" y="56515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◷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A162F1-FC77-119F-0E89-E16FAC6CB055}"/>
              </a:ext>
            </a:extLst>
          </p:cNvPr>
          <p:cNvSpPr txBox="1"/>
          <p:nvPr/>
        </p:nvSpPr>
        <p:spPr>
          <a:xfrm>
            <a:off x="1447800" y="5588000"/>
            <a:ext cx="515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Best Time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5685C4-D4B8-56FD-10A2-DF3C9777A49F}"/>
              </a:ext>
            </a:extLst>
          </p:cNvPr>
          <p:cNvSpPr txBox="1"/>
          <p:nvPr/>
        </p:nvSpPr>
        <p:spPr>
          <a:xfrm>
            <a:off x="1447800" y="5918200"/>
            <a:ext cx="5130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Xem dữ liệu theo 12 tháng, mùa nổi bật và những mẹo nên biết.</a:t>
            </a:r>
          </a:p>
        </p:txBody>
      </p:sp>
    </p:spTree>
    <p:extLst>
      <p:ext uri="{BB962C8B-B14F-4D97-AF65-F5344CB8AC3E}">
        <p14:creationId xmlns:p14="http://schemas.microsoft.com/office/powerpoint/2010/main" val="17714867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  <p:bldP spid="16" grpId="0" build="p" bldLvl="2"/>
      <p:bldP spid="18" grpId="0" build="p" bldLvl="2" animBg="1"/>
      <p:bldP spid="23" grpId="0" build="p" bldLvl="2" animBg="1"/>
      <p:bldP spid="28" grpId="0" build="p" bldLvl="2" animBg="1"/>
      <p:bldP spid="33" grpId="0" build="p" bldLvl="2" animBg="1"/>
      <p:bldP spid="38" grpId="0" build="p" bldLvl="2" animBg="1"/>
      <p:bldP spid="43" grpId="0" build="p" bldLvl="2" animBg="1"/>
      <p:bldP spid="48" grpId="0" build="p" bldLvl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846408-D442-C65B-C87C-FFF5C865E3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C7DE55-F1E5-0F2A-EF75-2CDD9F13DEB2}"/>
              </a:ext>
            </a:extLst>
          </p:cNvPr>
          <p:cNvSpPr/>
          <p:nvPr/>
        </p:nvSpPr>
        <p:spPr>
          <a:xfrm>
            <a:off x="889000" y="914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ADA479-F331-2577-AE13-01F0CA6BBE27}"/>
              </a:ext>
            </a:extLst>
          </p:cNvPr>
          <p:cNvSpPr/>
          <p:nvPr/>
        </p:nvSpPr>
        <p:spPr>
          <a:xfrm>
            <a:off x="1879600" y="1397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706991-A428-FB5A-E1C9-3E580451D79F}"/>
              </a:ext>
            </a:extLst>
          </p:cNvPr>
          <p:cNvSpPr/>
          <p:nvPr/>
        </p:nvSpPr>
        <p:spPr>
          <a:xfrm>
            <a:off x="9652000" y="10414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61EE9F-7A78-A509-C38B-898B7B21F3EC}"/>
              </a:ext>
            </a:extLst>
          </p:cNvPr>
          <p:cNvSpPr/>
          <p:nvPr/>
        </p:nvSpPr>
        <p:spPr>
          <a:xfrm>
            <a:off x="11176000" y="1968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B3C087-0EC2-7C43-097B-7B6002EB63CA}"/>
              </a:ext>
            </a:extLst>
          </p:cNvPr>
          <p:cNvSpPr/>
          <p:nvPr/>
        </p:nvSpPr>
        <p:spPr>
          <a:xfrm>
            <a:off x="8763000" y="5207000"/>
            <a:ext cx="38100" cy="381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FBAC45-8822-5694-E2E3-CF43EA0A1653}"/>
              </a:ext>
            </a:extLst>
          </p:cNvPr>
          <p:cNvSpPr/>
          <p:nvPr/>
        </p:nvSpPr>
        <p:spPr>
          <a:xfrm>
            <a:off x="1397000" y="5715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32D40F-5A96-E967-F13C-72A3FD7D8252}"/>
              </a:ext>
            </a:extLst>
          </p:cNvPr>
          <p:cNvSpPr/>
          <p:nvPr/>
        </p:nvSpPr>
        <p:spPr>
          <a:xfrm>
            <a:off x="10795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43066A-52C2-2019-07F4-47240DF8B8DF}"/>
              </a:ext>
            </a:extLst>
          </p:cNvPr>
          <p:cNvSpPr/>
          <p:nvPr/>
        </p:nvSpPr>
        <p:spPr>
          <a:xfrm>
            <a:off x="6413500" y="8255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7551F76-18EC-89AD-C559-8AF6D6268FFB}"/>
              </a:ext>
            </a:extLst>
          </p:cNvPr>
          <p:cNvSpPr/>
          <p:nvPr/>
        </p:nvSpPr>
        <p:spPr>
          <a:xfrm>
            <a:off x="5461000" y="5969000"/>
            <a:ext cx="25400" cy="2540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AFAF2-485F-A4C6-4F64-86E8AF67A86D}"/>
              </a:ext>
            </a:extLst>
          </p:cNvPr>
          <p:cNvSpPr txBox="1"/>
          <p:nvPr/>
        </p:nvSpPr>
        <p:spPr>
          <a:xfrm>
            <a:off x="558800" y="355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5FF"/>
                </a:solidFill>
                <a:latin typeface="Aptos Display" panose="020B0004020202020204" pitchFamily="34" charset="0"/>
              </a:rPr>
              <a:t>AIVIVU / EXPERIENCE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E9E1D2-83A2-6B8B-E1A3-93BA0A38760D}"/>
              </a:ext>
            </a:extLst>
          </p:cNvPr>
          <p:cNvCxnSpPr/>
          <p:nvPr/>
        </p:nvCxnSpPr>
        <p:spPr>
          <a:xfrm>
            <a:off x="558800" y="723900"/>
            <a:ext cx="11074400" cy="0"/>
          </a:xfrm>
          <a:prstGeom prst="line">
            <a:avLst/>
          </a:prstGeom>
          <a:ln w="12700">
            <a:solidFill>
              <a:srgbClr val="2832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C53080-95BA-B270-8EFF-046ADF4E1435}"/>
              </a:ext>
            </a:extLst>
          </p:cNvPr>
          <p:cNvSpPr txBox="1"/>
          <p:nvPr/>
        </p:nvSpPr>
        <p:spPr>
          <a:xfrm>
            <a:off x="11239500" y="355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vi-VN" sz="1100">
                <a:solidFill>
                  <a:srgbClr val="94A3B8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24DA94-054A-C290-2842-B799A3C07EC9}"/>
              </a:ext>
            </a:extLst>
          </p:cNvPr>
          <p:cNvSpPr txBox="1"/>
          <p:nvPr/>
        </p:nvSpPr>
        <p:spPr>
          <a:xfrm>
            <a:off x="685800" y="1155700"/>
            <a:ext cx="762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Đủ thông minh để hữu ích.</a:t>
            </a:r>
          </a:p>
          <a:p>
            <a:r>
              <a:rPr lang="vi-VN" sz="3000" b="1">
                <a:solidFill>
                  <a:srgbClr val="F8FAFC"/>
                </a:solidFill>
                <a:latin typeface="Aptos Display" panose="020B0004020202020204" pitchFamily="34" charset="0"/>
              </a:rPr>
              <a:t>Đủ gần gũi để dễ dùng.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2407F-26A3-26F5-76F6-DB42CC3C9A31}"/>
              </a:ext>
            </a:extLst>
          </p:cNvPr>
          <p:cNvSpPr txBox="1"/>
          <p:nvPr/>
        </p:nvSpPr>
        <p:spPr>
          <a:xfrm>
            <a:off x="711200" y="2413000"/>
            <a:ext cx="825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Aptos" panose="020B0004020202020204" pitchFamily="34" charset="0"/>
              </a:rPr>
              <a:t>Trải nghiệm được xây quanh chuyến đi của người dùng, không phải quanh công nghệ.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880F22-7BA7-5D1F-BB84-9607814C8ACE}"/>
              </a:ext>
            </a:extLst>
          </p:cNvPr>
          <p:cNvSpPr/>
          <p:nvPr/>
        </p:nvSpPr>
        <p:spPr>
          <a:xfrm>
            <a:off x="685800" y="3429000"/>
            <a:ext cx="2413000" cy="18288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55B337-B95F-9FA0-A8E3-1217D2E3A60F}"/>
              </a:ext>
            </a:extLst>
          </p:cNvPr>
          <p:cNvSpPr/>
          <p:nvPr/>
        </p:nvSpPr>
        <p:spPr>
          <a:xfrm>
            <a:off x="863600" y="3619500"/>
            <a:ext cx="431800" cy="431800"/>
          </a:xfrm>
          <a:prstGeom prst="round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C7008E-CEE2-83CE-E49D-ADEB8330BB7F}"/>
              </a:ext>
            </a:extLst>
          </p:cNvPr>
          <p:cNvSpPr txBox="1"/>
          <p:nvPr/>
        </p:nvSpPr>
        <p:spPr>
          <a:xfrm>
            <a:off x="8636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E57D6E-2F38-A22F-8B06-CA19F03B60B6}"/>
              </a:ext>
            </a:extLst>
          </p:cNvPr>
          <p:cNvSpPr txBox="1"/>
          <p:nvPr/>
        </p:nvSpPr>
        <p:spPr>
          <a:xfrm>
            <a:off x="1447800" y="3606800"/>
            <a:ext cx="147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Đa ngôn ngữ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E09309-66B0-A985-D7B5-532F6C23CAD2}"/>
              </a:ext>
            </a:extLst>
          </p:cNvPr>
          <p:cNvSpPr txBox="1"/>
          <p:nvPr/>
        </p:nvSpPr>
        <p:spPr>
          <a:xfrm>
            <a:off x="1447800" y="3937000"/>
            <a:ext cx="1447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Việt • English • </a:t>
            </a:r>
            <a:r>
              <a:rPr lang="ko-KR" altLang="en-US" sz="1050">
                <a:solidFill>
                  <a:srgbClr val="94A3B8"/>
                </a:solidFill>
                <a:latin typeface="Aptos" panose="020B0004020202020204" pitchFamily="34" charset="0"/>
              </a:rPr>
              <a:t>한국어</a:t>
            </a:r>
            <a:endParaRPr lang="vi-VN" sz="105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C918DC0-DF46-9439-14C2-8254049EB170}"/>
              </a:ext>
            </a:extLst>
          </p:cNvPr>
          <p:cNvSpPr/>
          <p:nvPr/>
        </p:nvSpPr>
        <p:spPr>
          <a:xfrm>
            <a:off x="3530600" y="3429000"/>
            <a:ext cx="2413000" cy="18288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792FEF-D0EB-38BA-EDAE-FC2920E2DF6F}"/>
              </a:ext>
            </a:extLst>
          </p:cNvPr>
          <p:cNvSpPr/>
          <p:nvPr/>
        </p:nvSpPr>
        <p:spPr>
          <a:xfrm>
            <a:off x="3708400" y="3619500"/>
            <a:ext cx="431800" cy="4318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468F75-2D20-5BC6-A3E2-0DD89878A257}"/>
              </a:ext>
            </a:extLst>
          </p:cNvPr>
          <p:cNvSpPr txBox="1"/>
          <p:nvPr/>
        </p:nvSpPr>
        <p:spPr>
          <a:xfrm>
            <a:off x="37084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↺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4476D3-4E0F-431D-BBEF-31DA947A2873}"/>
              </a:ext>
            </a:extLst>
          </p:cNvPr>
          <p:cNvSpPr txBox="1"/>
          <p:nvPr/>
        </p:nvSpPr>
        <p:spPr>
          <a:xfrm>
            <a:off x="4292600" y="3606800"/>
            <a:ext cx="147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Lưu &amp; tiếp tục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32FD36-3DC0-2A80-A6EB-918BE912A330}"/>
              </a:ext>
            </a:extLst>
          </p:cNvPr>
          <p:cNvSpPr txBox="1"/>
          <p:nvPr/>
        </p:nvSpPr>
        <p:spPr>
          <a:xfrm>
            <a:off x="4292600" y="3937000"/>
            <a:ext cx="1447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Giữ lại cuộc hội thoại và chuyến đi.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21CD7E8-D042-E28F-8EE4-209244BF7265}"/>
              </a:ext>
            </a:extLst>
          </p:cNvPr>
          <p:cNvSpPr/>
          <p:nvPr/>
        </p:nvSpPr>
        <p:spPr>
          <a:xfrm>
            <a:off x="6375400" y="3429000"/>
            <a:ext cx="2413000" cy="18288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E7C607E-FA2D-9FF3-64D4-7CB5F3FF01B5}"/>
              </a:ext>
            </a:extLst>
          </p:cNvPr>
          <p:cNvSpPr/>
          <p:nvPr/>
        </p:nvSpPr>
        <p:spPr>
          <a:xfrm>
            <a:off x="6553200" y="3619500"/>
            <a:ext cx="431800" cy="431800"/>
          </a:xfrm>
          <a:prstGeom prst="roundRect">
            <a:avLst/>
          </a:prstGeom>
          <a:solidFill>
            <a:srgbClr val="FF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51AE19-23ED-030E-2A0F-22977F124FAC}"/>
              </a:ext>
            </a:extLst>
          </p:cNvPr>
          <p:cNvSpPr txBox="1"/>
          <p:nvPr/>
        </p:nvSpPr>
        <p:spPr>
          <a:xfrm>
            <a:off x="65532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884735-8450-CD5B-60ED-52A48B7C5178}"/>
              </a:ext>
            </a:extLst>
          </p:cNvPr>
          <p:cNvSpPr txBox="1"/>
          <p:nvPr/>
        </p:nvSpPr>
        <p:spPr>
          <a:xfrm>
            <a:off x="7137400" y="3606800"/>
            <a:ext cx="147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Kết nối bạn bè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80CA1A-D820-3DB9-ADC4-6D0C3405D5B9}"/>
              </a:ext>
            </a:extLst>
          </p:cNvPr>
          <p:cNvSpPr txBox="1"/>
          <p:nvPr/>
        </p:nvSpPr>
        <p:spPr>
          <a:xfrm>
            <a:off x="7137400" y="3937000"/>
            <a:ext cx="1447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Chia sẻ điểm đến, trò chuyện cùng nhau.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FB43D77-197F-32EE-8E23-8BD7D0E043D7}"/>
              </a:ext>
            </a:extLst>
          </p:cNvPr>
          <p:cNvSpPr/>
          <p:nvPr/>
        </p:nvSpPr>
        <p:spPr>
          <a:xfrm>
            <a:off x="9220200" y="3429000"/>
            <a:ext cx="2413000" cy="182880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283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581DA53-9DF2-CDCB-FAF9-56A87B1A2DD1}"/>
              </a:ext>
            </a:extLst>
          </p:cNvPr>
          <p:cNvSpPr/>
          <p:nvPr/>
        </p:nvSpPr>
        <p:spPr>
          <a:xfrm>
            <a:off x="9398000" y="3619500"/>
            <a:ext cx="431800" cy="4318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3B2920-A94A-481E-528C-66218CD95C2E}"/>
              </a:ext>
            </a:extLst>
          </p:cNvPr>
          <p:cNvSpPr txBox="1"/>
          <p:nvPr/>
        </p:nvSpPr>
        <p:spPr>
          <a:xfrm>
            <a:off x="9398000" y="3670300"/>
            <a:ext cx="43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600" b="1">
                <a:solidFill>
                  <a:srgbClr val="F8FAFC"/>
                </a:solidFill>
              </a:rPr>
              <a:t>↯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227BA0-9203-E55B-4DBE-F7FE04A7515A}"/>
              </a:ext>
            </a:extLst>
          </p:cNvPr>
          <p:cNvSpPr txBox="1"/>
          <p:nvPr/>
        </p:nvSpPr>
        <p:spPr>
          <a:xfrm>
            <a:off x="9982200" y="3606800"/>
            <a:ext cx="1473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8FAFC"/>
                </a:solidFill>
                <a:latin typeface="Aptos Display" panose="020B0004020202020204" pitchFamily="34" charset="0"/>
              </a:rPr>
              <a:t>Hiệu năng có chủ đích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424058-CCFD-C49F-EAC4-DEB3BF9F3D0B}"/>
              </a:ext>
            </a:extLst>
          </p:cNvPr>
          <p:cNvSpPr txBox="1"/>
          <p:nvPr/>
        </p:nvSpPr>
        <p:spPr>
          <a:xfrm>
            <a:off x="9982200" y="3937000"/>
            <a:ext cx="1447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50">
                <a:solidFill>
                  <a:srgbClr val="94A3B8"/>
                </a:solidFill>
                <a:latin typeface="Aptos" panose="020B0004020202020204" pitchFamily="34" charset="0"/>
              </a:rPr>
              <a:t>Cache kết quả AI để phản hồi mượt hơn.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492EF1-B07E-E112-3583-AAFC2E5496F4}"/>
              </a:ext>
            </a:extLst>
          </p:cNvPr>
          <p:cNvSpPr txBox="1"/>
          <p:nvPr/>
        </p:nvSpPr>
        <p:spPr>
          <a:xfrm>
            <a:off x="698500" y="5715000"/>
            <a:ext cx="1028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F8FAFC"/>
                </a:solidFill>
                <a:latin typeface="Aptos" panose="020B0004020202020204" pitchFamily="34" charset="0"/>
              </a:rPr>
              <a:t>AIVIVU kết hợp AI, dữ liệu hành trình và giao diện tối giản thành một trải nghiệm liền mạch.</a:t>
            </a:r>
          </a:p>
        </p:txBody>
      </p:sp>
    </p:spTree>
    <p:extLst>
      <p:ext uri="{BB962C8B-B14F-4D97-AF65-F5344CB8AC3E}">
        <p14:creationId xmlns:p14="http://schemas.microsoft.com/office/powerpoint/2010/main" val="42664178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  <p:bldP spid="16" grpId="0" build="p" bldLvl="2"/>
      <p:bldP spid="17" grpId="0" build="p" bldLvl="2" animBg="1"/>
      <p:bldP spid="22" grpId="0" build="p" bldLvl="2" animBg="1"/>
      <p:bldP spid="27" grpId="0" build="p" bldLvl="2" animBg="1"/>
      <p:bldP spid="32" grpId="0" build="p" bldLvl="2" animBg="1"/>
      <p:bldP spid="37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9081CD-B1CC-8D1A-F6F6-D9F7C641A5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9A8FEE-C276-4A41-D8B9-187C02E6E5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70B">
              <a:alpha val="7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F3950D-DEEF-B890-0D73-8B9E985346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914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F9F16-1A98-E070-23BC-7F001F6E70E1}"/>
              </a:ext>
            </a:extLst>
          </p:cNvPr>
          <p:cNvSpPr txBox="1"/>
          <p:nvPr/>
        </p:nvSpPr>
        <p:spPr>
          <a:xfrm>
            <a:off x="3835400" y="1651000"/>
            <a:ext cx="45212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4600" b="1">
                <a:solidFill>
                  <a:srgbClr val="F8FAFC"/>
                </a:solidFill>
                <a:latin typeface="Aptos Display" panose="020B0004020202020204" pitchFamily="34" charset="0"/>
              </a:rPr>
              <a:t>AIVIVU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F27AE-768C-16AA-9CD1-77AF7D08F3A8}"/>
              </a:ext>
            </a:extLst>
          </p:cNvPr>
          <p:cNvSpPr txBox="1"/>
          <p:nvPr/>
        </p:nvSpPr>
        <p:spPr>
          <a:xfrm>
            <a:off x="3429000" y="2565400"/>
            <a:ext cx="533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2300">
                <a:solidFill>
                  <a:srgbClr val="00E5FF"/>
                </a:solidFill>
                <a:latin typeface="Aptos" panose="020B0004020202020204" pitchFamily="34" charset="0"/>
              </a:rPr>
              <a:t>Từ ý định đến hành trình.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A72AA-CB62-2E17-B366-FCCA95D895D0}"/>
              </a:ext>
            </a:extLst>
          </p:cNvPr>
          <p:cNvSpPr txBox="1"/>
          <p:nvPr/>
        </p:nvSpPr>
        <p:spPr>
          <a:xfrm>
            <a:off x="2921000" y="3505200"/>
            <a:ext cx="6350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>
                <a:solidFill>
                  <a:srgbClr val="F8FAFC"/>
                </a:solidFill>
                <a:latin typeface="Aptos" panose="020B0004020202020204" pitchFamily="34" charset="0"/>
              </a:rPr>
              <a:t>Một người bạn AI giúp việc chuẩn bị chuyến đi trở nên rõ ràng, cá nhân và đầy cảm hứng.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315C7A-A8EC-1C5D-9C25-27BF9C068789}"/>
              </a:ext>
            </a:extLst>
          </p:cNvPr>
          <p:cNvSpPr/>
          <p:nvPr/>
        </p:nvSpPr>
        <p:spPr>
          <a:xfrm>
            <a:off x="4699000" y="4546600"/>
            <a:ext cx="2794000" cy="495300"/>
          </a:xfrm>
          <a:prstGeom prst="roundRect">
            <a:avLst/>
          </a:prstGeom>
          <a:solidFill>
            <a:srgbClr val="FF33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0AFD7-8734-3E6F-5693-945F03B4D2A4}"/>
              </a:ext>
            </a:extLst>
          </p:cNvPr>
          <p:cNvSpPr txBox="1"/>
          <p:nvPr/>
        </p:nvSpPr>
        <p:spPr>
          <a:xfrm>
            <a:off x="4902200" y="4711700"/>
            <a:ext cx="2387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 b="1">
                <a:solidFill>
                  <a:srgbClr val="F8FAFC"/>
                </a:solidFill>
                <a:latin typeface="Aptos" panose="020B0004020202020204" pitchFamily="34" charset="0"/>
              </a:rPr>
              <a:t>SẴN SÀNG CÙNG LÊN ĐƯỜNG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8B1F6-1DD1-52BF-F2CF-52763E502542}"/>
              </a:ext>
            </a:extLst>
          </p:cNvPr>
          <p:cNvSpPr txBox="1"/>
          <p:nvPr/>
        </p:nvSpPr>
        <p:spPr>
          <a:xfrm>
            <a:off x="5410200" y="5943600"/>
            <a:ext cx="1371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 b="1">
                <a:solidFill>
                  <a:srgbClr val="94A3B8"/>
                </a:solidFill>
                <a:latin typeface="Aptos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83262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  <p:bldP spid="7" grpId="0" build="p" bldLvl="2"/>
      <p:bldP spid="8" grpId="0" build="p" bldLvl="2"/>
      <p:bldP spid="9" grpId="0" build="p" bldLvl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Custom</PresentationFormat>
  <Paragraphs>149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tienthanh tienthanh</dc:creator>
  <cp:lastModifiedBy>tienthanh tienthanh</cp:lastModifiedBy>
  <cp:revision>1</cp:revision>
  <dcterms:created xsi:type="dcterms:W3CDTF">2026-10-10T12:52:00Z</dcterms:created>
  <dcterms:modified xsi:type="dcterms:W3CDTF">2026-10-10T12:52:00Z</dcterms:modified>
</cp:coreProperties>
</file>